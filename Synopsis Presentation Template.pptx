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497" r:id="rId3"/>
    <p:sldId id="499" r:id="rId4"/>
    <p:sldId id="507" r:id="rId5"/>
    <p:sldId id="500" r:id="rId6"/>
    <p:sldId id="501" r:id="rId7"/>
    <p:sldId id="502" r:id="rId8"/>
    <p:sldId id="503" r:id="rId9"/>
    <p:sldId id="508" r:id="rId10"/>
    <p:sldId id="506" r:id="rId11"/>
    <p:sldId id="509" r:id="rId12"/>
    <p:sldId id="269" r:id="rId13"/>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0AA"/>
    <a:srgbClr val="0066B3"/>
    <a:srgbClr val="E31E24"/>
    <a:srgbClr val="006CB4"/>
    <a:srgbClr val="E830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varScale="1">
        <p:scale>
          <a:sx n="78" d="100"/>
          <a:sy n="78" d="100"/>
        </p:scale>
        <p:origin x="1886" y="6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18-04-2025</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3635600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3546696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50CB9-56DE-31B2-1098-9E71ADEDC8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157ED-9196-070B-03D2-6FE6317058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E38988-A9A4-28F1-3031-903B0DC0FA0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0DAD130-048E-2ECD-E747-13E1DC11F144}"/>
              </a:ext>
            </a:extLst>
          </p:cNvPr>
          <p:cNvSpPr>
            <a:spLocks noGrp="1"/>
          </p:cNvSpPr>
          <p:nvPr>
            <p:ph type="sldNum" sz="quarter" idx="5"/>
          </p:nvPr>
        </p:nvSpPr>
        <p:spPr/>
        <p:txBody>
          <a:bodyPr/>
          <a:lstStyle/>
          <a:p>
            <a:fld id="{DAB949B3-C4AB-4FB2-8B24-B07A558BD59F}" type="slidenum">
              <a:rPr lang="en-IN" smtClean="0"/>
              <a:t>4</a:t>
            </a:fld>
            <a:endParaRPr lang="en-IN"/>
          </a:p>
        </p:txBody>
      </p:sp>
    </p:spTree>
    <p:extLst>
      <p:ext uri="{BB962C8B-B14F-4D97-AF65-F5344CB8AC3E}">
        <p14:creationId xmlns:p14="http://schemas.microsoft.com/office/powerpoint/2010/main" val="13935656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4150468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3160893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1623754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8</a:t>
            </a:fld>
            <a:endParaRPr lang="en-IN"/>
          </a:p>
        </p:txBody>
      </p:sp>
    </p:spTree>
    <p:extLst>
      <p:ext uri="{BB962C8B-B14F-4D97-AF65-F5344CB8AC3E}">
        <p14:creationId xmlns:p14="http://schemas.microsoft.com/office/powerpoint/2010/main" val="14696401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9CB42-67FF-A56C-05D1-F3CA77565C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29108E-4C40-8FA2-5882-5CAF979E37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1E6B8-D38C-99EF-99AB-B9CFD6B0BBF2}"/>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4960A5D-F436-34AE-AEE7-EA596C7FBA4F}"/>
              </a:ext>
            </a:extLst>
          </p:cNvPr>
          <p:cNvSpPr>
            <a:spLocks noGrp="1"/>
          </p:cNvSpPr>
          <p:nvPr>
            <p:ph type="sldNum" sz="quarter" idx="5"/>
          </p:nvPr>
        </p:nvSpPr>
        <p:spPr/>
        <p:txBody>
          <a:bodyPr/>
          <a:lstStyle/>
          <a:p>
            <a:fld id="{DAB949B3-C4AB-4FB2-8B24-B07A558BD59F}" type="slidenum">
              <a:rPr lang="en-IN" smtClean="0"/>
              <a:t>9</a:t>
            </a:fld>
            <a:endParaRPr lang="en-IN"/>
          </a:p>
        </p:txBody>
      </p:sp>
    </p:spTree>
    <p:extLst>
      <p:ext uri="{BB962C8B-B14F-4D97-AF65-F5344CB8AC3E}">
        <p14:creationId xmlns:p14="http://schemas.microsoft.com/office/powerpoint/2010/main" val="9371805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10</a:t>
            </a:fld>
            <a:endParaRPr lang="en-IN"/>
          </a:p>
        </p:txBody>
      </p:sp>
    </p:spTree>
    <p:extLst>
      <p:ext uri="{BB962C8B-B14F-4D97-AF65-F5344CB8AC3E}">
        <p14:creationId xmlns:p14="http://schemas.microsoft.com/office/powerpoint/2010/main" val="4183691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80FAA-8FF1-CA16-503E-7EE1828F0E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DDF11-2325-93C8-615C-4DD2EC242C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37C88F-6B42-67A0-95F1-7C89B0444CF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58F2525-8EA6-D7F2-FEE2-460ED625C131}"/>
              </a:ext>
            </a:extLst>
          </p:cNvPr>
          <p:cNvSpPr>
            <a:spLocks noGrp="1"/>
          </p:cNvSpPr>
          <p:nvPr>
            <p:ph type="sldNum" sz="quarter" idx="5"/>
          </p:nvPr>
        </p:nvSpPr>
        <p:spPr/>
        <p:txBody>
          <a:bodyPr/>
          <a:lstStyle/>
          <a:p>
            <a:fld id="{DAB949B3-C4AB-4FB2-8B24-B07A558BD59F}" type="slidenum">
              <a:rPr lang="en-IN" smtClean="0"/>
              <a:t>11</a:t>
            </a:fld>
            <a:endParaRPr lang="en-IN"/>
          </a:p>
        </p:txBody>
      </p:sp>
    </p:spTree>
    <p:extLst>
      <p:ext uri="{BB962C8B-B14F-4D97-AF65-F5344CB8AC3E}">
        <p14:creationId xmlns:p14="http://schemas.microsoft.com/office/powerpoint/2010/main" val="1866887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18-04-2025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18-04-2025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89A1-F17A-4D3D-AC08-D16056C16514}" type="datetimeFigureOut">
              <a:rPr lang="en-IN" smtClean="0"/>
              <a:t>18-04-2025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5071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4AA89A1-F17A-4D3D-AC08-D16056C16514}" type="datetimeFigureOut">
              <a:rPr lang="en-IN" smtClean="0"/>
              <a:t>18-04-2025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91185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4AA89A1-F17A-4D3D-AC08-D16056C16514}" type="datetimeFigureOut">
              <a:rPr lang="en-IN" smtClean="0"/>
              <a:t>18-04-2025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461301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4AA89A1-F17A-4D3D-AC08-D16056C16514}" type="datetimeFigureOut">
              <a:rPr lang="en-IN" smtClean="0"/>
              <a:t>18-04-2025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85240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A89A1-F17A-4D3D-AC08-D16056C16514}" type="datetimeFigureOut">
              <a:rPr lang="en-IN" smtClean="0"/>
              <a:t>18-04-2025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75178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18-04-2025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29679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18-04-2025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8684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18-04-2025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2755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18-04-2025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95389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A89A1-F17A-4D3D-AC08-D16056C16514}" type="datetimeFigureOut">
              <a:rPr lang="en-IN" smtClean="0"/>
              <a:t>18-04-2025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PT Admission Drive 2021-22-final-2_Page_01.jpg"/>
          <p:cNvPicPr>
            <a:picLocks noChangeAspect="1"/>
          </p:cNvPicPr>
          <p:nvPr/>
        </p:nvPicPr>
        <p:blipFill>
          <a:blip r:embed="rId2"/>
          <a:stretch>
            <a:fillRect/>
          </a:stretch>
        </p:blipFill>
        <p:spPr>
          <a:xfrm>
            <a:off x="0" y="0"/>
            <a:ext cx="9144000" cy="6850383"/>
          </a:xfrm>
          <a:prstGeom prst="rect">
            <a:avLst/>
          </a:prstGeom>
        </p:spPr>
      </p:pic>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4260" y="-27384"/>
            <a:ext cx="9180512" cy="6885384"/>
          </a:xfrm>
        </p:spPr>
      </p:pic>
      <p:cxnSp>
        <p:nvCxnSpPr>
          <p:cNvPr id="11" name="Straight Connector 10"/>
          <p:cNvCxnSpPr/>
          <p:nvPr/>
        </p:nvCxnSpPr>
        <p:spPr>
          <a:xfrm>
            <a:off x="1520415" y="2060848"/>
            <a:ext cx="6306546"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0382" y="150274"/>
            <a:ext cx="6396065" cy="920873"/>
          </a:xfrm>
          <a:prstGeom prst="rect">
            <a:avLst/>
          </a:prstGeom>
        </p:spPr>
      </p:pic>
      <p:sp>
        <p:nvSpPr>
          <p:cNvPr id="13" name="TextBox 12"/>
          <p:cNvSpPr txBox="1"/>
          <p:nvPr/>
        </p:nvSpPr>
        <p:spPr>
          <a:xfrm>
            <a:off x="236440" y="2219553"/>
            <a:ext cx="8784976" cy="830997"/>
          </a:xfrm>
          <a:prstGeom prst="rect">
            <a:avLst/>
          </a:prstGeom>
          <a:noFill/>
        </p:spPr>
        <p:txBody>
          <a:bodyPr wrap="square" rtlCol="0">
            <a:spAutoFit/>
          </a:bodyPr>
          <a:lstStyle/>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Second Year Project Synopsis</a:t>
            </a:r>
          </a:p>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Submitted by</a:t>
            </a:r>
          </a:p>
        </p:txBody>
      </p:sp>
      <p:graphicFrame>
        <p:nvGraphicFramePr>
          <p:cNvPr id="2" name="Table 2">
            <a:extLst>
              <a:ext uri="{FF2B5EF4-FFF2-40B4-BE49-F238E27FC236}">
                <a16:creationId xmlns:a16="http://schemas.microsoft.com/office/drawing/2014/main" id="{232DFD41-0025-28B4-FE3B-A54FAEE28F42}"/>
              </a:ext>
            </a:extLst>
          </p:cNvPr>
          <p:cNvGraphicFramePr>
            <a:graphicFrameLocks noGrp="1"/>
          </p:cNvGraphicFramePr>
          <p:nvPr>
            <p:extLst>
              <p:ext uri="{D42A27DB-BD31-4B8C-83A1-F6EECF244321}">
                <p14:modId xmlns:p14="http://schemas.microsoft.com/office/powerpoint/2010/main" val="801597079"/>
              </p:ext>
            </p:extLst>
          </p:nvPr>
        </p:nvGraphicFramePr>
        <p:xfrm>
          <a:off x="1696134" y="3086002"/>
          <a:ext cx="6096000" cy="18542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537270469"/>
                    </a:ext>
                  </a:extLst>
                </a:gridCol>
                <a:gridCol w="3048000">
                  <a:extLst>
                    <a:ext uri="{9D8B030D-6E8A-4147-A177-3AD203B41FA5}">
                      <a16:colId xmlns:a16="http://schemas.microsoft.com/office/drawing/2014/main" val="3305024946"/>
                    </a:ext>
                  </a:extLst>
                </a:gridCol>
              </a:tblGrid>
              <a:tr h="370840">
                <a:tc>
                  <a:txBody>
                    <a:bodyPr/>
                    <a:lstStyle/>
                    <a:p>
                      <a:pPr algn="ctr"/>
                      <a:r>
                        <a:rPr lang="en-US" dirty="0"/>
                        <a:t>ROLL</a:t>
                      </a:r>
                    </a:p>
                  </a:txBody>
                  <a:tcPr/>
                </a:tc>
                <a:tc>
                  <a:txBody>
                    <a:bodyPr/>
                    <a:lstStyle/>
                    <a:p>
                      <a:pPr algn="ctr"/>
                      <a:r>
                        <a:rPr lang="en-US" dirty="0"/>
                        <a:t>NAME</a:t>
                      </a:r>
                    </a:p>
                  </a:txBody>
                  <a:tcPr/>
                </a:tc>
                <a:extLst>
                  <a:ext uri="{0D108BD9-81ED-4DB2-BD59-A6C34878D82A}">
                    <a16:rowId xmlns:a16="http://schemas.microsoft.com/office/drawing/2014/main" val="1765898331"/>
                  </a:ext>
                </a:extLst>
              </a:tr>
              <a:tr h="370840">
                <a:tc>
                  <a:txBody>
                    <a:bodyPr/>
                    <a:lstStyle/>
                    <a:p>
                      <a:r>
                        <a:rPr lang="en-US" dirty="0"/>
                        <a:t>2301730318</a:t>
                      </a:r>
                    </a:p>
                  </a:txBody>
                  <a:tcPr/>
                </a:tc>
                <a:tc>
                  <a:txBody>
                    <a:bodyPr/>
                    <a:lstStyle/>
                    <a:p>
                      <a:r>
                        <a:rPr lang="en-US" dirty="0"/>
                        <a:t>VANSHIKA BHARDWAJ</a:t>
                      </a:r>
                    </a:p>
                  </a:txBody>
                  <a:tcPr/>
                </a:tc>
                <a:extLst>
                  <a:ext uri="{0D108BD9-81ED-4DB2-BD59-A6C34878D82A}">
                    <a16:rowId xmlns:a16="http://schemas.microsoft.com/office/drawing/2014/main" val="4176101868"/>
                  </a:ext>
                </a:extLst>
              </a:tr>
              <a:tr h="370840">
                <a:tc>
                  <a:txBody>
                    <a:bodyPr/>
                    <a:lstStyle/>
                    <a:p>
                      <a:r>
                        <a:rPr lang="en-US" dirty="0"/>
                        <a:t>2301730292</a:t>
                      </a:r>
                    </a:p>
                  </a:txBody>
                  <a:tcPr/>
                </a:tc>
                <a:tc>
                  <a:txBody>
                    <a:bodyPr/>
                    <a:lstStyle/>
                    <a:p>
                      <a:r>
                        <a:rPr lang="en-US" dirty="0"/>
                        <a:t>TAHA JAMAL</a:t>
                      </a:r>
                    </a:p>
                  </a:txBody>
                  <a:tcPr/>
                </a:tc>
                <a:extLst>
                  <a:ext uri="{0D108BD9-81ED-4DB2-BD59-A6C34878D82A}">
                    <a16:rowId xmlns:a16="http://schemas.microsoft.com/office/drawing/2014/main" val="1958206324"/>
                  </a:ext>
                </a:extLst>
              </a:tr>
              <a:tr h="370840">
                <a:tc>
                  <a:txBody>
                    <a:bodyPr/>
                    <a:lstStyle/>
                    <a:p>
                      <a:r>
                        <a:rPr lang="en-US" dirty="0"/>
                        <a:t>2301730342</a:t>
                      </a:r>
                    </a:p>
                  </a:txBody>
                  <a:tcPr/>
                </a:tc>
                <a:tc>
                  <a:txBody>
                    <a:bodyPr/>
                    <a:lstStyle/>
                    <a:p>
                      <a:r>
                        <a:rPr lang="en-US" dirty="0"/>
                        <a:t>RAKSHIT SACHDEVA</a:t>
                      </a:r>
                    </a:p>
                  </a:txBody>
                  <a:tcPr/>
                </a:tc>
                <a:extLst>
                  <a:ext uri="{0D108BD9-81ED-4DB2-BD59-A6C34878D82A}">
                    <a16:rowId xmlns:a16="http://schemas.microsoft.com/office/drawing/2014/main" val="441949598"/>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043375068"/>
                  </a:ext>
                </a:extLst>
              </a:tr>
            </a:tbl>
          </a:graphicData>
        </a:graphic>
      </p:graphicFrame>
      <p:sp>
        <p:nvSpPr>
          <p:cNvPr id="5" name="TextBox 4">
            <a:extLst>
              <a:ext uri="{FF2B5EF4-FFF2-40B4-BE49-F238E27FC236}">
                <a16:creationId xmlns:a16="http://schemas.microsoft.com/office/drawing/2014/main" id="{3DF18845-4075-32C5-8F4A-4F40F86E837F}"/>
              </a:ext>
            </a:extLst>
          </p:cNvPr>
          <p:cNvSpPr txBox="1"/>
          <p:nvPr/>
        </p:nvSpPr>
        <p:spPr>
          <a:xfrm>
            <a:off x="2299286" y="1212054"/>
            <a:ext cx="4792993" cy="477054"/>
          </a:xfrm>
          <a:prstGeom prst="rect">
            <a:avLst/>
          </a:prstGeom>
          <a:noFill/>
        </p:spPr>
        <p:txBody>
          <a:bodyPr wrap="square">
            <a:spAutoFit/>
          </a:bodyPr>
          <a:lstStyle/>
          <a:p>
            <a:pPr lvl="0" algn="ctr">
              <a:buSzPct val="25000"/>
            </a:pPr>
            <a:r>
              <a:rPr lang="en-US" sz="2500" dirty="0">
                <a:solidFill>
                  <a:srgbClr val="C00000"/>
                </a:solidFill>
                <a:ea typeface="Cambria" panose="02040503050406030204" pitchFamily="18" charset="0"/>
                <a:cs typeface="Times New Roman" panose="02020603050405020304" pitchFamily="18" charset="0"/>
                <a:sym typeface="Arial"/>
              </a:rPr>
              <a:t>Smart Chatbot for College Queries</a:t>
            </a:r>
          </a:p>
        </p:txBody>
      </p:sp>
      <p:sp>
        <p:nvSpPr>
          <p:cNvPr id="8" name="TextBox 7">
            <a:extLst>
              <a:ext uri="{FF2B5EF4-FFF2-40B4-BE49-F238E27FC236}">
                <a16:creationId xmlns:a16="http://schemas.microsoft.com/office/drawing/2014/main" id="{40D4C745-33B7-0116-E20F-11A7F0DFD46F}"/>
              </a:ext>
            </a:extLst>
          </p:cNvPr>
          <p:cNvSpPr txBox="1"/>
          <p:nvPr/>
        </p:nvSpPr>
        <p:spPr>
          <a:xfrm>
            <a:off x="236440" y="5733256"/>
            <a:ext cx="8584032" cy="646331"/>
          </a:xfrm>
          <a:prstGeom prst="rect">
            <a:avLst/>
          </a:prstGeom>
          <a:noFill/>
        </p:spPr>
        <p:txBody>
          <a:bodyPr wrap="square">
            <a:spAutoFit/>
          </a:bodyPr>
          <a:lstStyle/>
          <a:p>
            <a:pPr lvl="0">
              <a:buSzPct val="25000"/>
            </a:pPr>
            <a:r>
              <a:rPr lang="en-IN" sz="1800" b="1" dirty="0">
                <a:solidFill>
                  <a:srgbClr val="0070C0"/>
                </a:solidFill>
                <a:ea typeface="Cambria" panose="02040503050406030204" pitchFamily="18" charset="0"/>
                <a:cs typeface="Times New Roman" panose="02020603050405020304" pitchFamily="18" charset="0"/>
                <a:sym typeface="Arial"/>
              </a:rPr>
              <a:t>Industry Mentor: MAHIMA BHARDWAJ</a:t>
            </a:r>
          </a:p>
          <a:p>
            <a:pPr lvl="0">
              <a:buSzPct val="25000"/>
            </a:pPr>
            <a:r>
              <a:rPr lang="en-IN" b="1" dirty="0">
                <a:solidFill>
                  <a:srgbClr val="0070C0"/>
                </a:solidFill>
                <a:ea typeface="Cambria" panose="02040503050406030204" pitchFamily="18" charset="0"/>
                <a:cs typeface="Times New Roman" panose="02020603050405020304" pitchFamily="18" charset="0"/>
                <a:sym typeface="Arial"/>
              </a:rPr>
              <a:t>Faculty Mentor: NEETU CHAUHAN </a:t>
            </a:r>
            <a:r>
              <a:rPr lang="en-IN" sz="1800" b="1" dirty="0">
                <a:solidFill>
                  <a:srgbClr val="0070C0"/>
                </a:solidFill>
                <a:ea typeface="Cambria" panose="02040503050406030204" pitchFamily="18" charset="0"/>
                <a:cs typeface="Times New Roman" panose="02020603050405020304" pitchFamily="18" charset="0"/>
                <a:sym typeface="Arial"/>
              </a:rPr>
              <a:t> </a:t>
            </a:r>
          </a:p>
        </p:txBody>
      </p:sp>
    </p:spTree>
    <p:extLst>
      <p:ext uri="{BB962C8B-B14F-4D97-AF65-F5344CB8AC3E}">
        <p14:creationId xmlns:p14="http://schemas.microsoft.com/office/powerpoint/2010/main" val="4142536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15370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Overview</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36512" y="98072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FA93044A-BD0D-E3F7-B6E0-02BF697009EE}"/>
              </a:ext>
            </a:extLst>
          </p:cNvPr>
          <p:cNvSpPr txBox="1"/>
          <p:nvPr/>
        </p:nvSpPr>
        <p:spPr>
          <a:xfrm>
            <a:off x="368774" y="1014669"/>
            <a:ext cx="5256584" cy="5401479"/>
          </a:xfrm>
          <a:prstGeom prst="rect">
            <a:avLst/>
          </a:prstGeom>
          <a:noFill/>
        </p:spPr>
        <p:txBody>
          <a:bodyPr wrap="square" rtlCol="0">
            <a:spAutoFit/>
          </a:bodyPr>
          <a:lstStyle/>
          <a:p>
            <a:pPr marL="342900" indent="-342900" algn="just">
              <a:buFont typeface="Arial" panose="020B0604020202020204" pitchFamily="34" charset="0"/>
              <a:buChar char="•"/>
            </a:pPr>
            <a:r>
              <a:rPr lang="en-US" sz="2300" dirty="0"/>
              <a:t>The Smart College Query Chatbot is an AI-powered assistant designed to help students, faculty, and parents with common college-related questions. It provides instant responses to queries about admissions, courses, faculty, events, library services, and more, reducing the need for manual assistance. </a:t>
            </a:r>
          </a:p>
          <a:p>
            <a:pPr marL="342900" indent="-342900" algn="just">
              <a:buFont typeface="Arial" panose="020B0604020202020204" pitchFamily="34" charset="0"/>
              <a:buChar char="•"/>
            </a:pPr>
            <a:r>
              <a:rPr lang="en-US" sz="2300" dirty="0"/>
              <a:t>To reduce the workload of administrative staff.</a:t>
            </a:r>
          </a:p>
          <a:p>
            <a:pPr marL="342900" indent="-342900" algn="just">
              <a:buFont typeface="Arial" panose="020B0604020202020204" pitchFamily="34" charset="0"/>
              <a:buChar char="•"/>
            </a:pPr>
            <a:r>
              <a:rPr lang="en-US" sz="2300" dirty="0"/>
              <a:t>To provide instant and accurate answers to frequently asked questions. </a:t>
            </a:r>
          </a:p>
          <a:p>
            <a:pPr marL="342900" indent="-342900" algn="just">
              <a:buFont typeface="Arial" panose="020B0604020202020204" pitchFamily="34" charset="0"/>
              <a:buChar char="•"/>
            </a:pPr>
            <a:r>
              <a:rPr lang="en-US" sz="2300" dirty="0"/>
              <a:t>To integrate with a website or messaging platform for ease of use.</a:t>
            </a:r>
            <a:endParaRPr lang="en-IN" sz="2300" dirty="0"/>
          </a:p>
        </p:txBody>
      </p:sp>
      <p:pic>
        <p:nvPicPr>
          <p:cNvPr id="8" name="Picture 7">
            <a:extLst>
              <a:ext uri="{FF2B5EF4-FFF2-40B4-BE49-F238E27FC236}">
                <a16:creationId xmlns:a16="http://schemas.microsoft.com/office/drawing/2014/main" id="{4BE37AE7-B743-1CFD-907A-95FE37A7498D}"/>
              </a:ext>
            </a:extLst>
          </p:cNvPr>
          <p:cNvPicPr>
            <a:picLocks noChangeAspect="1"/>
          </p:cNvPicPr>
          <p:nvPr/>
        </p:nvPicPr>
        <p:blipFill>
          <a:blip r:embed="rId5"/>
          <a:stretch>
            <a:fillRect/>
          </a:stretch>
        </p:blipFill>
        <p:spPr>
          <a:xfrm>
            <a:off x="6012160" y="2045660"/>
            <a:ext cx="3096344" cy="2798830"/>
          </a:xfrm>
          <a:prstGeom prst="rect">
            <a:avLst/>
          </a:prstGeom>
        </p:spPr>
      </p:pic>
    </p:spTree>
    <p:extLst>
      <p:ext uri="{BB962C8B-B14F-4D97-AF65-F5344CB8AC3E}">
        <p14:creationId xmlns:p14="http://schemas.microsoft.com/office/powerpoint/2010/main" val="3353784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BCB9D-96AE-CB6E-9C36-46448345056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12461A6-C9CF-A279-E846-5AFA1CEF067A}"/>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B99D4242-71CF-DE3F-0B66-C21402FDCF6D}"/>
              </a:ext>
            </a:extLst>
          </p:cNvPr>
          <p:cNvSpPr>
            <a:spLocks noChangeArrowheads="1"/>
          </p:cNvSpPr>
          <p:nvPr/>
        </p:nvSpPr>
        <p:spPr bwMode="auto">
          <a:xfrm>
            <a:off x="179512" y="59260"/>
            <a:ext cx="464858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4400" b="1" dirty="0">
                <a:solidFill>
                  <a:prstClr val="black"/>
                </a:solidFill>
                <a:latin typeface="Calibri"/>
                <a:ea typeface="+mj-ea"/>
                <a:cs typeface="+mj-cs"/>
                <a:sym typeface="Arial"/>
              </a:rPr>
              <a:t>A</a:t>
            </a:r>
            <a:r>
              <a:rPr lang="en-IN" sz="4400" b="1" dirty="0">
                <a:solidFill>
                  <a:prstClr val="black"/>
                </a:solidFill>
                <a:latin typeface="Calibri"/>
                <a:ea typeface="+mj-ea"/>
                <a:cs typeface="+mj-cs"/>
                <a:sym typeface="Arial"/>
              </a:rPr>
              <a:t>bout the Problem</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74824933-86C5-EFBA-36B9-358001A06AC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E3AE5FC-8649-27D3-900D-5F6329A7F4F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E099852-B907-412D-6E46-D21E628B3AD6}"/>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CA3DEF35-11EC-5059-39F1-AC5BCC365022}"/>
              </a:ext>
            </a:extLst>
          </p:cNvPr>
          <p:cNvSpPr txBox="1"/>
          <p:nvPr/>
        </p:nvSpPr>
        <p:spPr>
          <a:xfrm>
            <a:off x="158054" y="1480231"/>
            <a:ext cx="8208912" cy="3493264"/>
          </a:xfrm>
          <a:prstGeom prst="rect">
            <a:avLst/>
          </a:prstGeom>
          <a:noFill/>
        </p:spPr>
        <p:txBody>
          <a:bodyPr wrap="square" rtlCol="0">
            <a:spAutoFit/>
          </a:bodyPr>
          <a:lstStyle/>
          <a:p>
            <a:pPr marL="571500" indent="-571500" algn="just">
              <a:buFont typeface="Arial" panose="020B0604020202020204" pitchFamily="34" charset="0"/>
              <a:buChar char="•"/>
            </a:pPr>
            <a:r>
              <a:rPr lang="en-US" sz="1700" dirty="0"/>
              <a:t>Develop a smart chatbot that can provide instant and accurate responses to common college-related queries.</a:t>
            </a:r>
          </a:p>
          <a:p>
            <a:pPr marL="571500" indent="-571500" algn="just">
              <a:buFont typeface="Arial" panose="020B0604020202020204" pitchFamily="34" charset="0"/>
              <a:buChar char="•"/>
            </a:pPr>
            <a:r>
              <a:rPr lang="en-US" sz="1700" dirty="0"/>
              <a:t>Students frequently ask about admission procedures, course details, fee structure, exam schedules, etc.</a:t>
            </a:r>
          </a:p>
          <a:p>
            <a:pPr marL="571500" indent="-571500" algn="just">
              <a:buFont typeface="Arial" panose="020B0604020202020204" pitchFamily="34" charset="0"/>
              <a:buChar char="•"/>
            </a:pPr>
            <a:r>
              <a:rPr lang="en-US" sz="1700" dirty="0"/>
              <a:t>Staff must answer the same questions again and again, which is time-consuming.</a:t>
            </a:r>
          </a:p>
          <a:p>
            <a:pPr marL="571500" indent="-571500" algn="just">
              <a:buFont typeface="Arial" panose="020B0604020202020204" pitchFamily="34" charset="0"/>
              <a:buChar char="•"/>
            </a:pPr>
            <a:r>
              <a:rPr lang="en-US" sz="1700" dirty="0"/>
              <a:t>Information given over phone or email may be inconsistent or incomplete.</a:t>
            </a:r>
          </a:p>
          <a:p>
            <a:pPr marL="571500" indent="-571500" algn="just">
              <a:buFont typeface="Arial" panose="020B0604020202020204" pitchFamily="34" charset="0"/>
              <a:buChar char="•"/>
            </a:pPr>
            <a:r>
              <a:rPr lang="en-US" sz="1700" dirty="0"/>
              <a:t>Important information may not reach students in time.</a:t>
            </a:r>
          </a:p>
          <a:p>
            <a:pPr marL="571500" indent="-571500" algn="just">
              <a:buFont typeface="Arial" panose="020B0604020202020204" pitchFamily="34" charset="0"/>
              <a:buChar char="•"/>
            </a:pPr>
            <a:r>
              <a:rPr lang="en-US" sz="1700" dirty="0"/>
              <a:t>Students may have doubts outside college hours.</a:t>
            </a:r>
            <a:endParaRPr lang="en-IN" sz="1700" dirty="0"/>
          </a:p>
          <a:p>
            <a:pPr marL="571500" indent="-571500" algn="just">
              <a:buFont typeface="Arial" panose="020B0604020202020204" pitchFamily="34" charset="0"/>
              <a:buChar char="•"/>
            </a:pPr>
            <a:r>
              <a:rPr lang="en-US" sz="1700" dirty="0"/>
              <a:t>Understand and respond to text-based queries in real time.</a:t>
            </a:r>
          </a:p>
          <a:p>
            <a:pPr marL="571500" indent="-571500" algn="just">
              <a:buFont typeface="Arial" panose="020B0604020202020204" pitchFamily="34" charset="0"/>
              <a:buChar char="•"/>
            </a:pPr>
            <a:r>
              <a:rPr lang="en-US" sz="1700" dirty="0"/>
              <a:t>There's no system to support them instantly at night, during holidays, or in emergencies.</a:t>
            </a:r>
            <a:endParaRPr lang="en-IN" sz="1700" dirty="0"/>
          </a:p>
          <a:p>
            <a:pPr marL="571500" indent="-571500" algn="just">
              <a:buFont typeface="Arial" panose="020B0604020202020204" pitchFamily="34" charset="0"/>
              <a:buChar char="•"/>
            </a:pPr>
            <a:r>
              <a:rPr lang="en-IN" sz="1700" dirty="0"/>
              <a:t>To Develop smart chat bot.</a:t>
            </a:r>
          </a:p>
          <a:p>
            <a:pPr marL="571500" indent="-571500" algn="just">
              <a:buFont typeface="Arial" panose="020B0604020202020204" pitchFamily="34" charset="0"/>
              <a:buChar char="•"/>
            </a:pPr>
            <a:r>
              <a:rPr lang="en-IN" sz="1700" dirty="0">
                <a:effectLst/>
                <a:latin typeface="+mj-lt"/>
                <a:ea typeface="Verdana" panose="020B0604030504040204" pitchFamily="34" charset="0"/>
                <a:cs typeface="Verdana" panose="020B0604030504040204" pitchFamily="34" charset="0"/>
              </a:rPr>
              <a:t>To integrate the chatbot into college platforms. </a:t>
            </a:r>
            <a:endParaRPr lang="en-IN" sz="1700" dirty="0">
              <a:latin typeface="+mj-lt"/>
            </a:endParaRPr>
          </a:p>
        </p:txBody>
      </p:sp>
    </p:spTree>
    <p:extLst>
      <p:ext uri="{BB962C8B-B14F-4D97-AF65-F5344CB8AC3E}">
        <p14:creationId xmlns:p14="http://schemas.microsoft.com/office/powerpoint/2010/main" val="3638403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934" y="0"/>
            <a:ext cx="9180512" cy="6885384"/>
          </a:xfrm>
        </p:spPr>
      </p:pic>
      <p:sp>
        <p:nvSpPr>
          <p:cNvPr id="5" name="Rectangle 1"/>
          <p:cNvSpPr>
            <a:spLocks noChangeArrowheads="1"/>
          </p:cNvSpPr>
          <p:nvPr/>
        </p:nvSpPr>
        <p:spPr bwMode="auto">
          <a:xfrm>
            <a:off x="179512" y="151593"/>
            <a:ext cx="464742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Problem Statement</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412D7EC8-BFDC-C4B6-F5D1-9906B7D02893}"/>
              </a:ext>
            </a:extLst>
          </p:cNvPr>
          <p:cNvSpPr txBox="1"/>
          <p:nvPr/>
        </p:nvSpPr>
        <p:spPr>
          <a:xfrm>
            <a:off x="575556" y="1293834"/>
            <a:ext cx="8100900" cy="3416320"/>
          </a:xfrm>
          <a:prstGeom prst="rect">
            <a:avLst/>
          </a:prstGeom>
          <a:noFill/>
        </p:spPr>
        <p:txBody>
          <a:bodyPr wrap="square">
            <a:spAutoFit/>
          </a:bodyPr>
          <a:lstStyle/>
          <a:p>
            <a:pPr marL="0" marR="0" algn="just"/>
            <a:r>
              <a:rPr lang="en-US" dirty="0">
                <a:effectLst/>
                <a:latin typeface="Cambria" panose="02040503050406030204" pitchFamily="18" charset="0"/>
                <a:ea typeface="Verdana" panose="020B0604030504040204" pitchFamily="34" charset="0"/>
                <a:cs typeface="Verdana" panose="020B0604030504040204" pitchFamily="34" charset="0"/>
              </a:rPr>
              <a:t> </a:t>
            </a:r>
            <a:r>
              <a:rPr lang="en-US" dirty="0"/>
              <a:t>"In many colleges, students face difficulties in obtaining timely and accurate responses to their academic and administrative queries due to limited staff availability, high query volume, and inefficient communication channels. This leads to confusion, missed deadlines, and poor student experience.“</a:t>
            </a:r>
          </a:p>
          <a:p>
            <a:pPr marL="0" marR="0" algn="just"/>
            <a:endParaRPr lang="en-US" dirty="0"/>
          </a:p>
          <a:p>
            <a:pPr marL="0" marR="0" algn="just"/>
            <a:r>
              <a:rPr lang="en-US" dirty="0">
                <a:effectLst/>
                <a:latin typeface="Cambria" panose="02040503050406030204" pitchFamily="18" charset="0"/>
                <a:ea typeface="Verdana" panose="020B0604030504040204" pitchFamily="34" charset="0"/>
                <a:cs typeface="Verdana" panose="020B0604030504040204" pitchFamily="34" charset="0"/>
              </a:rPr>
              <a:t>This project aims to develop an AI-driven chatbot that can provide</a:t>
            </a:r>
          </a:p>
          <a:p>
            <a:pPr marL="342900" marR="0" indent="-342900" algn="just">
              <a:buFont typeface="+mj-lt"/>
              <a:buAutoNum type="arabicPeriod"/>
            </a:pPr>
            <a:r>
              <a:rPr lang="en-US" dirty="0">
                <a:effectLst/>
                <a:latin typeface="Cambria" panose="02040503050406030204" pitchFamily="18" charset="0"/>
                <a:ea typeface="Verdana" panose="020B0604030504040204" pitchFamily="34" charset="0"/>
                <a:cs typeface="Verdana" panose="020B0604030504040204" pitchFamily="34" charset="0"/>
              </a:rPr>
              <a:t> real-time.</a:t>
            </a:r>
          </a:p>
          <a:p>
            <a:pPr marL="342900" marR="0" indent="-342900" algn="just">
              <a:buFont typeface="+mj-lt"/>
              <a:buAutoNum type="arabicPeriod"/>
            </a:pPr>
            <a:r>
              <a:rPr lang="en-US" dirty="0">
                <a:effectLst/>
                <a:latin typeface="Cambria" panose="02040503050406030204" pitchFamily="18" charset="0"/>
                <a:ea typeface="Verdana" panose="020B0604030504040204" pitchFamily="34" charset="0"/>
                <a:cs typeface="Verdana" panose="020B0604030504040204" pitchFamily="34" charset="0"/>
              </a:rPr>
              <a:t> accurate answer.</a:t>
            </a:r>
          </a:p>
          <a:p>
            <a:pPr marL="342900" marR="0" indent="-342900" algn="just">
              <a:buFont typeface="+mj-lt"/>
              <a:buAutoNum type="arabicPeriod"/>
            </a:pPr>
            <a:r>
              <a:rPr lang="en-US" dirty="0">
                <a:effectLst/>
                <a:latin typeface="Cambria" panose="02040503050406030204" pitchFamily="18" charset="0"/>
                <a:ea typeface="Verdana" panose="020B0604030504040204" pitchFamily="34" charset="0"/>
                <a:cs typeface="Verdana" panose="020B0604030504040204" pitchFamily="34" charset="0"/>
              </a:rPr>
              <a:t> intelligent responses to student inquiries,</a:t>
            </a:r>
          </a:p>
          <a:p>
            <a:pPr marL="342900" marR="0" indent="-342900" algn="just">
              <a:buFont typeface="+mj-lt"/>
              <a:buAutoNum type="arabicPeriod"/>
            </a:pPr>
            <a:r>
              <a:rPr lang="en-US" dirty="0">
                <a:effectLst/>
                <a:latin typeface="Cambria" panose="02040503050406030204" pitchFamily="18" charset="0"/>
                <a:ea typeface="Verdana" panose="020B0604030504040204" pitchFamily="34" charset="0"/>
                <a:cs typeface="Verdana" panose="020B0604030504040204" pitchFamily="34" charset="0"/>
              </a:rPr>
              <a:t> reducing the dependency on human intervention.</a:t>
            </a:r>
          </a:p>
          <a:p>
            <a:pPr marL="342900" marR="0" indent="-342900" algn="just">
              <a:buFont typeface="+mj-lt"/>
              <a:buAutoNum type="arabicPeriod"/>
            </a:pPr>
            <a:endParaRPr lang="en-IN" dirty="0">
              <a:effectLst/>
              <a:latin typeface="Verdana" panose="020B0604030504040204" pitchFamily="34" charset="0"/>
              <a:ea typeface="Verdana" panose="020B0604030504040204" pitchFamily="34" charset="0"/>
              <a:cs typeface="Verdana" panose="020B0604030504040204" pitchFamily="34" charset="0"/>
            </a:endParaRPr>
          </a:p>
          <a:p>
            <a:pPr marL="0" marR="0" algn="just"/>
            <a:r>
              <a:rPr lang="en-US" dirty="0">
                <a:effectLst/>
                <a:latin typeface="Cambria" panose="02040503050406030204" pitchFamily="18" charset="0"/>
                <a:ea typeface="Verdana" panose="020B0604030504040204" pitchFamily="34" charset="0"/>
                <a:cs typeface="Verdana" panose="020B0604030504040204" pitchFamily="34" charset="0"/>
              </a:rPr>
              <a:t> </a:t>
            </a:r>
            <a:endParaRPr lang="en-IN" dirty="0">
              <a:effectLst/>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047329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Objectives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7B14FE12-9F36-1DAE-B174-062D669256D2}"/>
              </a:ext>
            </a:extLst>
          </p:cNvPr>
          <p:cNvSpPr txBox="1"/>
          <p:nvPr/>
        </p:nvSpPr>
        <p:spPr>
          <a:xfrm>
            <a:off x="611560" y="1007727"/>
            <a:ext cx="7560840" cy="5429179"/>
          </a:xfrm>
          <a:prstGeom prst="rect">
            <a:avLst/>
          </a:prstGeom>
          <a:noFill/>
        </p:spPr>
        <p:txBody>
          <a:bodyPr wrap="square">
            <a:spAutoFit/>
          </a:bodyPr>
          <a:lstStyle/>
          <a:p>
            <a:pPr marR="0" algn="just">
              <a:lnSpc>
                <a:spcPct val="115000"/>
              </a:lnSpc>
            </a:pPr>
            <a:r>
              <a:rPr lang="en-IN" sz="1700" dirty="0">
                <a:effectLst/>
                <a:latin typeface="Cambria" panose="02040503050406030204" pitchFamily="18" charset="0"/>
                <a:ea typeface="Verdana" panose="020B0604030504040204" pitchFamily="34" charset="0"/>
                <a:cs typeface="Verdana" panose="020B0604030504040204" pitchFamily="34" charset="0"/>
              </a:rPr>
              <a:t>The chatbot will be developed with the following objectives:</a:t>
            </a:r>
            <a:endParaRPr lang="en-IN" sz="1700" dirty="0">
              <a:effectLst/>
              <a:latin typeface="Verdana" panose="020B0604030504040204" pitchFamily="34" charset="0"/>
              <a:ea typeface="Verdana" panose="020B0604030504040204" pitchFamily="34" charset="0"/>
              <a:cs typeface="Verdana" panose="020B0604030504040204" pitchFamily="34" charset="0"/>
            </a:endParaRPr>
          </a:p>
          <a:p>
            <a:pPr marL="457200" marR="0" lvl="0" indent="-457200" algn="just">
              <a:lnSpc>
                <a:spcPct val="115000"/>
              </a:lnSpc>
              <a:buSzPts val="1000"/>
              <a:buFont typeface="+mj-lt"/>
              <a:buAutoNum type="arabicPeriod"/>
              <a:tabLst>
                <a:tab pos="457200" algn="l"/>
              </a:tabLst>
            </a:pPr>
            <a:r>
              <a:rPr lang="en-IN" sz="1700" dirty="0">
                <a:effectLst/>
                <a:latin typeface="Cambria" panose="02040503050406030204" pitchFamily="18" charset="0"/>
                <a:ea typeface="Verdana" panose="020B0604030504040204" pitchFamily="34" charset="0"/>
                <a:cs typeface="Verdana" panose="020B0604030504040204" pitchFamily="34" charset="0"/>
              </a:rPr>
              <a:t>To develop an intelligent virtual assistant capable of handling college-related queries.</a:t>
            </a:r>
          </a:p>
          <a:p>
            <a:pPr marL="457200" marR="0" lvl="0" indent="-457200" algn="just">
              <a:lnSpc>
                <a:spcPct val="115000"/>
              </a:lnSpc>
              <a:buSzPts val="1000"/>
              <a:buFont typeface="+mj-lt"/>
              <a:buAutoNum type="arabicPeriod"/>
              <a:tabLst>
                <a:tab pos="457200" algn="l"/>
              </a:tabLst>
            </a:pPr>
            <a:r>
              <a:rPr lang="en-US" sz="1700" dirty="0"/>
              <a:t>To answer frequently asked questions related to admissions, courses, fees, exams, </a:t>
            </a:r>
            <a:r>
              <a:rPr lang="en-US" sz="1700" dirty="0" err="1"/>
              <a:t>etc</a:t>
            </a:r>
            <a:r>
              <a:rPr lang="en-US" sz="1700" dirty="0"/>
              <a:t>, without human intervention.</a:t>
            </a:r>
            <a:endParaRPr lang="en-IN" sz="1700" dirty="0">
              <a:latin typeface="Cambria" panose="02040503050406030204" pitchFamily="18" charset="0"/>
              <a:ea typeface="Verdana" panose="020B0604030504040204" pitchFamily="34" charset="0"/>
            </a:endParaRPr>
          </a:p>
          <a:p>
            <a:pPr marL="457200" marR="0" lvl="0" indent="-457200" algn="just">
              <a:lnSpc>
                <a:spcPct val="115000"/>
              </a:lnSpc>
              <a:buSzPts val="1000"/>
              <a:buFont typeface="+mj-lt"/>
              <a:buAutoNum type="arabicPeriod"/>
              <a:tabLst>
                <a:tab pos="457200" algn="l"/>
              </a:tabLst>
            </a:pPr>
            <a:r>
              <a:rPr lang="en-US" sz="1700" dirty="0"/>
              <a:t>To provide round-the-clock support to students, parents, and prospective applicants.</a:t>
            </a:r>
          </a:p>
          <a:p>
            <a:pPr marL="457200" marR="0" lvl="0" indent="-457200" algn="just">
              <a:lnSpc>
                <a:spcPct val="115000"/>
              </a:lnSpc>
              <a:buSzPts val="1000"/>
              <a:buFont typeface="+mj-lt"/>
              <a:buAutoNum type="arabicPeriod"/>
              <a:tabLst>
                <a:tab pos="457200" algn="l"/>
              </a:tabLst>
            </a:pPr>
            <a:r>
              <a:rPr lang="en-US" sz="1700" dirty="0"/>
              <a:t>To respond based on user profiles such as prospective students, current students, or alumni.</a:t>
            </a:r>
          </a:p>
          <a:p>
            <a:pPr marL="457200" marR="0" lvl="0" indent="-457200" algn="just">
              <a:lnSpc>
                <a:spcPct val="115000"/>
              </a:lnSpc>
              <a:buSzPts val="1000"/>
              <a:buFont typeface="+mj-lt"/>
              <a:buAutoNum type="arabicPeriod"/>
              <a:tabLst>
                <a:tab pos="457200" algn="l"/>
              </a:tabLst>
            </a:pPr>
            <a:r>
              <a:rPr lang="en-US" sz="1700" dirty="0"/>
              <a:t>To deliver instant, precise, and consistent responses across different topics.</a:t>
            </a:r>
            <a:endParaRPr lang="en-IN" sz="1700" dirty="0">
              <a:effectLst/>
              <a:latin typeface="Verdana" panose="020B0604030504040204" pitchFamily="34" charset="0"/>
              <a:ea typeface="Verdana" panose="020B0604030504040204" pitchFamily="34" charset="0"/>
              <a:cs typeface="Verdana" panose="020B0604030504040204" pitchFamily="34" charset="0"/>
            </a:endParaRPr>
          </a:p>
          <a:p>
            <a:pPr marL="457200" marR="0" lvl="0" indent="-457200" algn="just">
              <a:lnSpc>
                <a:spcPct val="115000"/>
              </a:lnSpc>
              <a:buSzPts val="1000"/>
              <a:buFont typeface="+mj-lt"/>
              <a:buAutoNum type="arabicPeriod"/>
              <a:tabLst>
                <a:tab pos="457200" algn="l"/>
              </a:tabLst>
            </a:pPr>
            <a:r>
              <a:rPr lang="en-IN" sz="1700" dirty="0">
                <a:effectLst/>
                <a:latin typeface="Cambria" panose="02040503050406030204" pitchFamily="18" charset="0"/>
                <a:ea typeface="Verdana" panose="020B0604030504040204" pitchFamily="34" charset="0"/>
                <a:cs typeface="Verdana" panose="020B0604030504040204" pitchFamily="34" charset="0"/>
              </a:rPr>
              <a:t>To implement NLP algorithms that improve chatbot understanding of student queries.</a:t>
            </a:r>
            <a:endParaRPr lang="en-IN" sz="1700" dirty="0">
              <a:effectLst/>
              <a:latin typeface="Verdana" panose="020B0604030504040204" pitchFamily="34" charset="0"/>
              <a:ea typeface="Verdana" panose="020B0604030504040204" pitchFamily="34" charset="0"/>
              <a:cs typeface="Verdana" panose="020B0604030504040204" pitchFamily="34" charset="0"/>
            </a:endParaRPr>
          </a:p>
          <a:p>
            <a:pPr marL="457200" marR="0" lvl="0" indent="-457200" algn="just">
              <a:lnSpc>
                <a:spcPct val="115000"/>
              </a:lnSpc>
              <a:buSzPts val="1000"/>
              <a:buFont typeface="+mj-lt"/>
              <a:buAutoNum type="arabicPeriod"/>
              <a:tabLst>
                <a:tab pos="457200" algn="l"/>
              </a:tabLst>
            </a:pPr>
            <a:r>
              <a:rPr lang="en-IN" sz="1700" dirty="0">
                <a:effectLst/>
                <a:latin typeface="Cambria" panose="02040503050406030204" pitchFamily="18" charset="0"/>
                <a:ea typeface="Verdana" panose="020B0604030504040204" pitchFamily="34" charset="0"/>
                <a:cs typeface="Verdana" panose="020B0604030504040204" pitchFamily="34" charset="0"/>
              </a:rPr>
              <a:t>To automate repetitive administrative tasks, reducing human workload.</a:t>
            </a:r>
            <a:endParaRPr lang="en-IN" sz="1700" dirty="0">
              <a:effectLst/>
              <a:latin typeface="Verdana" panose="020B0604030504040204" pitchFamily="34" charset="0"/>
              <a:ea typeface="Verdana" panose="020B0604030504040204" pitchFamily="34" charset="0"/>
              <a:cs typeface="Verdana" panose="020B0604030504040204" pitchFamily="34" charset="0"/>
            </a:endParaRPr>
          </a:p>
          <a:p>
            <a:pPr marL="457200" marR="0" lvl="0" indent="-457200" algn="just">
              <a:lnSpc>
                <a:spcPct val="115000"/>
              </a:lnSpc>
              <a:buSzPts val="1000"/>
              <a:buFont typeface="+mj-lt"/>
              <a:buAutoNum type="arabicPeriod"/>
              <a:tabLst>
                <a:tab pos="457200" algn="l"/>
              </a:tabLst>
            </a:pPr>
            <a:r>
              <a:rPr lang="en-IN" sz="1700" dirty="0">
                <a:effectLst/>
                <a:latin typeface="Cambria" panose="02040503050406030204" pitchFamily="18" charset="0"/>
                <a:ea typeface="Verdana" panose="020B0604030504040204" pitchFamily="34" charset="0"/>
                <a:cs typeface="Verdana" panose="020B0604030504040204" pitchFamily="34" charset="0"/>
              </a:rPr>
              <a:t>To provide 24/7 accessibility, ensuring students get answers anytime.</a:t>
            </a:r>
            <a:endParaRPr lang="en-IN" sz="1700" dirty="0">
              <a:effectLst/>
              <a:latin typeface="Verdana" panose="020B0604030504040204" pitchFamily="34" charset="0"/>
              <a:ea typeface="Verdana" panose="020B0604030504040204" pitchFamily="34" charset="0"/>
              <a:cs typeface="Verdana" panose="020B0604030504040204" pitchFamily="34" charset="0"/>
            </a:endParaRPr>
          </a:p>
          <a:p>
            <a:pPr marL="457200" marR="0" lvl="0" indent="-457200" algn="just">
              <a:lnSpc>
                <a:spcPct val="115000"/>
              </a:lnSpc>
              <a:buSzPts val="1000"/>
              <a:buFont typeface="+mj-lt"/>
              <a:buAutoNum type="arabicPeriod"/>
              <a:tabLst>
                <a:tab pos="457200" algn="l"/>
              </a:tabLst>
            </a:pPr>
            <a:r>
              <a:rPr lang="en-IN" sz="1700" dirty="0">
                <a:effectLst/>
                <a:latin typeface="Cambria" panose="02040503050406030204" pitchFamily="18" charset="0"/>
                <a:ea typeface="Verdana" panose="020B0604030504040204" pitchFamily="34" charset="0"/>
                <a:cs typeface="Verdana" panose="020B0604030504040204" pitchFamily="34" charset="0"/>
              </a:rPr>
              <a:t>To improve response accuracy through AI-based learning techniques.</a:t>
            </a:r>
            <a:endParaRPr lang="en-IN" sz="1700" dirty="0">
              <a:effectLst/>
              <a:latin typeface="Verdana" panose="020B0604030504040204" pitchFamily="34" charset="0"/>
              <a:ea typeface="Verdana" panose="020B0604030504040204" pitchFamily="34" charset="0"/>
              <a:cs typeface="Verdana" panose="020B0604030504040204" pitchFamily="34" charset="0"/>
            </a:endParaRPr>
          </a:p>
          <a:p>
            <a:pPr marL="457200" marR="0" lvl="0" indent="-457200" algn="just">
              <a:lnSpc>
                <a:spcPct val="115000"/>
              </a:lnSpc>
              <a:buSzPts val="1000"/>
              <a:buFont typeface="+mj-lt"/>
              <a:buAutoNum type="arabicPeriod"/>
              <a:tabLst>
                <a:tab pos="457200" algn="l"/>
              </a:tabLst>
            </a:pPr>
            <a:r>
              <a:rPr lang="en-IN" sz="1700" dirty="0">
                <a:effectLst/>
                <a:latin typeface="Cambria" panose="02040503050406030204" pitchFamily="18" charset="0"/>
                <a:ea typeface="Verdana" panose="020B0604030504040204" pitchFamily="34" charset="0"/>
                <a:cs typeface="Verdana" panose="020B0604030504040204" pitchFamily="34" charset="0"/>
              </a:rPr>
              <a:t>To integrate the chatbot into college platforms (website, mobile app, etc.).</a:t>
            </a:r>
            <a:endParaRPr lang="en-IN" sz="1700" dirty="0">
              <a:effectLst/>
              <a:latin typeface="Verdana" panose="020B0604030504040204" pitchFamily="34" charset="0"/>
              <a:ea typeface="Verdana" panose="020B0604030504040204" pitchFamily="34" charset="0"/>
              <a:cs typeface="Verdana" panose="020B0604030504040204" pitchFamily="34" charset="0"/>
            </a:endParaRPr>
          </a:p>
          <a:p>
            <a:pPr algn="just"/>
            <a:br>
              <a:rPr lang="en-US" sz="1700" dirty="0">
                <a:effectLst/>
                <a:latin typeface="Verdana" panose="020B0604030504040204" pitchFamily="34" charset="0"/>
                <a:ea typeface="Verdana" panose="020B0604030504040204" pitchFamily="34" charset="0"/>
                <a:cs typeface="Verdana" panose="020B0604030504040204" pitchFamily="34" charset="0"/>
              </a:rPr>
            </a:br>
            <a:endParaRPr lang="en-IN" sz="1700" dirty="0"/>
          </a:p>
        </p:txBody>
      </p:sp>
    </p:spTree>
    <p:extLst>
      <p:ext uri="{BB962C8B-B14F-4D97-AF65-F5344CB8AC3E}">
        <p14:creationId xmlns:p14="http://schemas.microsoft.com/office/powerpoint/2010/main" val="957423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 y="-13692"/>
            <a:ext cx="9180512" cy="6885384"/>
          </a:xfrm>
        </p:spPr>
      </p:pic>
      <p:sp>
        <p:nvSpPr>
          <p:cNvPr id="5" name="Rectangle 1"/>
          <p:cNvSpPr>
            <a:spLocks noChangeArrowheads="1"/>
          </p:cNvSpPr>
          <p:nvPr/>
        </p:nvSpPr>
        <p:spPr bwMode="auto">
          <a:xfrm>
            <a:off x="179512" y="151593"/>
            <a:ext cx="85731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Methodology, Tools, and Techniques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44FD2DEC-853B-1F58-B958-D38FBE8F7014}"/>
              </a:ext>
            </a:extLst>
          </p:cNvPr>
          <p:cNvSpPr txBox="1"/>
          <p:nvPr/>
        </p:nvSpPr>
        <p:spPr>
          <a:xfrm>
            <a:off x="401900" y="1289908"/>
            <a:ext cx="8604448" cy="4406591"/>
          </a:xfrm>
          <a:prstGeom prst="rect">
            <a:avLst/>
          </a:prstGeom>
          <a:noFill/>
        </p:spPr>
        <p:txBody>
          <a:bodyPr wrap="square">
            <a:spAutoFit/>
          </a:bodyPr>
          <a:lstStyle/>
          <a:p>
            <a:pPr lvl="2" algn="just"/>
            <a:endParaRPr lang="en-IN" sz="2100" dirty="0">
              <a:effectLst/>
              <a:latin typeface="Verdana" panose="020B0604030504040204" pitchFamily="34" charset="0"/>
              <a:ea typeface="Verdana" panose="020B0604030504040204" pitchFamily="34" charset="0"/>
              <a:cs typeface="Verdana" panose="020B0604030504040204" pitchFamily="34" charset="0"/>
            </a:endParaRPr>
          </a:p>
          <a:p>
            <a:pPr marL="0" marR="0" algn="just">
              <a:lnSpc>
                <a:spcPct val="115000"/>
              </a:lnSpc>
            </a:pPr>
            <a:r>
              <a:rPr lang="en-IN" sz="2100" dirty="0">
                <a:effectLst/>
                <a:latin typeface="Cambria" panose="02040503050406030204" pitchFamily="18" charset="0"/>
                <a:ea typeface="Verdana" panose="020B0604030504040204" pitchFamily="34" charset="0"/>
                <a:cs typeface="Verdana" panose="020B0604030504040204" pitchFamily="34" charset="0"/>
              </a:rPr>
              <a:t>To develop this chatbot, the following technologies and tools are used:</a:t>
            </a:r>
            <a:endParaRPr lang="en-IN" sz="21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gn="just">
              <a:lnSpc>
                <a:spcPct val="115000"/>
              </a:lnSpc>
              <a:buSzPts val="1000"/>
              <a:buFont typeface="Symbol" panose="05050102010706020507" pitchFamily="18" charset="2"/>
              <a:buChar char=""/>
              <a:tabLst>
                <a:tab pos="457200" algn="l"/>
              </a:tabLst>
            </a:pPr>
            <a:r>
              <a:rPr lang="en-IN" sz="2100" dirty="0">
                <a:effectLst/>
                <a:latin typeface="Cambria" panose="02040503050406030204" pitchFamily="18" charset="0"/>
                <a:ea typeface="Verdana" panose="020B0604030504040204" pitchFamily="34" charset="0"/>
                <a:cs typeface="Verdana" panose="020B0604030504040204" pitchFamily="34" charset="0"/>
              </a:rPr>
              <a:t>Programming Language: Python (for backend processing and chatbot logic)</a:t>
            </a:r>
            <a:r>
              <a:rPr lang="en-IN" sz="2100" dirty="0">
                <a:latin typeface="Cambria" panose="02040503050406030204" pitchFamily="18" charset="0"/>
                <a:ea typeface="Verdana" panose="020B0604030504040204" pitchFamily="34" charset="0"/>
                <a:cs typeface="Verdana" panose="020B0604030504040204" pitchFamily="34" charset="0"/>
              </a:rPr>
              <a:t>.</a:t>
            </a:r>
          </a:p>
          <a:p>
            <a:pPr marL="342900" marR="0" lvl="0" indent="-342900" algn="just">
              <a:lnSpc>
                <a:spcPct val="115000"/>
              </a:lnSpc>
              <a:buSzPts val="1000"/>
              <a:buFont typeface="Symbol" panose="05050102010706020507" pitchFamily="18" charset="2"/>
              <a:buChar char=""/>
              <a:tabLst>
                <a:tab pos="457200" algn="l"/>
              </a:tabLst>
            </a:pPr>
            <a:r>
              <a:rPr lang="en-IN" sz="2100" dirty="0">
                <a:latin typeface="Cambria" panose="02040503050406030204" pitchFamily="18" charset="0"/>
                <a:ea typeface="Verdana" panose="020B0604030504040204" pitchFamily="34" charset="0"/>
                <a:cs typeface="Verdana" panose="020B0604030504040204" pitchFamily="34" charset="0"/>
              </a:rPr>
              <a:t>Web Framework: Flask.</a:t>
            </a:r>
          </a:p>
          <a:p>
            <a:pPr marL="342900" marR="0" lvl="0" indent="-342900" algn="just">
              <a:lnSpc>
                <a:spcPct val="115000"/>
              </a:lnSpc>
              <a:buSzPts val="1000"/>
              <a:buFont typeface="Symbol" panose="05050102010706020507" pitchFamily="18" charset="2"/>
              <a:buChar char=""/>
              <a:tabLst>
                <a:tab pos="457200" algn="l"/>
              </a:tabLst>
            </a:pPr>
            <a:r>
              <a:rPr lang="en-IN" sz="2100" dirty="0">
                <a:effectLst/>
                <a:latin typeface="Cambria" panose="02040503050406030204" pitchFamily="18" charset="0"/>
                <a:ea typeface="Verdana" panose="020B0604030504040204" pitchFamily="34" charset="0"/>
                <a:cs typeface="Verdana" panose="020B0604030504040204" pitchFamily="34" charset="0"/>
              </a:rPr>
              <a:t>Development Environment: Visual Studio Code (VS Code).</a:t>
            </a:r>
            <a:endParaRPr lang="en-IN" sz="21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gn="just">
              <a:lnSpc>
                <a:spcPct val="115000"/>
              </a:lnSpc>
              <a:buSzPts val="1000"/>
              <a:buFont typeface="Symbol" panose="05050102010706020507" pitchFamily="18" charset="2"/>
              <a:buChar char=""/>
              <a:tabLst>
                <a:tab pos="457200" algn="l"/>
              </a:tabLst>
            </a:pPr>
            <a:r>
              <a:rPr lang="en-IN" sz="2100" dirty="0">
                <a:effectLst/>
                <a:latin typeface="Cambria" panose="02040503050406030204" pitchFamily="18" charset="0"/>
                <a:ea typeface="Verdana" panose="020B0604030504040204" pitchFamily="34" charset="0"/>
                <a:cs typeface="Verdana" panose="020B0604030504040204" pitchFamily="34" charset="0"/>
              </a:rPr>
              <a:t>Natural Language Processing (NLP): Used for understanding and generating responses.</a:t>
            </a:r>
            <a:endParaRPr lang="en-IN" sz="21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lgn="just">
              <a:lnSpc>
                <a:spcPct val="115000"/>
              </a:lnSpc>
              <a:buSzPts val="1000"/>
              <a:buFont typeface="Symbol" panose="05050102010706020507" pitchFamily="18" charset="2"/>
              <a:buChar char=""/>
              <a:tabLst>
                <a:tab pos="457200" algn="l"/>
              </a:tabLst>
            </a:pPr>
            <a:r>
              <a:rPr lang="en-IN" sz="2100" dirty="0">
                <a:effectLst/>
                <a:latin typeface="Cambria" panose="02040503050406030204" pitchFamily="18" charset="0"/>
                <a:ea typeface="Verdana" panose="020B0604030504040204" pitchFamily="34" charset="0"/>
                <a:cs typeface="Verdana" panose="020B0604030504040204" pitchFamily="34" charset="0"/>
              </a:rPr>
              <a:t>Deployment Platform: The chatbot may be integrated into a website, mobile application, or messaging platform.</a:t>
            </a:r>
            <a:endParaRPr lang="en-IN" sz="2100" dirty="0">
              <a:effectLst/>
              <a:latin typeface="Verdana" panose="020B0604030504040204" pitchFamily="34" charset="0"/>
              <a:ea typeface="Verdana" panose="020B0604030504040204" pitchFamily="34" charset="0"/>
              <a:cs typeface="Verdana" panose="020B0604030504040204" pitchFamily="34" charset="0"/>
            </a:endParaRPr>
          </a:p>
          <a:p>
            <a:pPr algn="just"/>
            <a:br>
              <a:rPr lang="en-US" sz="2100" dirty="0">
                <a:effectLst/>
                <a:latin typeface="Verdana" panose="020B0604030504040204" pitchFamily="34" charset="0"/>
                <a:ea typeface="Verdana" panose="020B0604030504040204" pitchFamily="34" charset="0"/>
                <a:cs typeface="Verdana" panose="020B0604030504040204" pitchFamily="34" charset="0"/>
              </a:rPr>
            </a:br>
            <a:endParaRPr lang="en-IN" sz="2100" dirty="0"/>
          </a:p>
        </p:txBody>
      </p:sp>
    </p:spTree>
    <p:extLst>
      <p:ext uri="{BB962C8B-B14F-4D97-AF65-F5344CB8AC3E}">
        <p14:creationId xmlns:p14="http://schemas.microsoft.com/office/powerpoint/2010/main" val="3295812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0"/>
            <a:ext cx="9180513" cy="6885385"/>
          </a:xfrm>
        </p:spPr>
      </p:pic>
      <p:sp>
        <p:nvSpPr>
          <p:cNvPr id="5" name="Rectangle 1"/>
          <p:cNvSpPr>
            <a:spLocks noChangeArrowheads="1"/>
          </p:cNvSpPr>
          <p:nvPr/>
        </p:nvSpPr>
        <p:spPr bwMode="auto">
          <a:xfrm>
            <a:off x="177133" y="346645"/>
            <a:ext cx="82809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Methodology Flowchart</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73878384-A2CE-F578-91F5-5633824F75CD}"/>
              </a:ext>
            </a:extLst>
          </p:cNvPr>
          <p:cNvSpPr txBox="1"/>
          <p:nvPr/>
        </p:nvSpPr>
        <p:spPr>
          <a:xfrm>
            <a:off x="919037" y="1365745"/>
            <a:ext cx="7342437" cy="5132944"/>
          </a:xfrm>
          <a:prstGeom prst="rect">
            <a:avLst/>
          </a:prstGeom>
          <a:noFill/>
        </p:spPr>
        <p:txBody>
          <a:bodyPr wrap="square">
            <a:spAutoFit/>
          </a:bodyPr>
          <a:lstStyle/>
          <a:p>
            <a:pPr marL="0" marR="0" algn="ctr">
              <a:lnSpc>
                <a:spcPct val="115000"/>
              </a:lnSpc>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IN" sz="2000" dirty="0">
              <a:effectLst/>
              <a:latin typeface="Verdana" panose="020B0604030504040204" pitchFamily="34" charset="0"/>
              <a:ea typeface="Verdana" panose="020B0604030504040204" pitchFamily="34" charset="0"/>
              <a:cs typeface="Verdana" panose="020B0604030504040204" pitchFamily="34" charset="0"/>
            </a:endParaRPr>
          </a:p>
          <a:p>
            <a:pPr algn="ctr">
              <a:lnSpc>
                <a:spcPct val="115000"/>
              </a:lnSpc>
            </a:pPr>
            <a:r>
              <a:rPr lang="en-IN" sz="2000" dirty="0">
                <a:effectLst/>
                <a:latin typeface="Cambria" panose="02040503050406030204" pitchFamily="18" charset="0"/>
                <a:ea typeface="Verdana" panose="020B0604030504040204" pitchFamily="34" charset="0"/>
                <a:cs typeface="Verdana" panose="020B0604030504040204" pitchFamily="34" charset="0"/>
              </a:rPr>
              <a:t>Step 1: Requirement Analysis</a:t>
            </a:r>
          </a:p>
          <a:p>
            <a:pPr algn="ctr">
              <a:lnSpc>
                <a:spcPct val="115000"/>
              </a:lnSpc>
            </a:pPr>
            <a:r>
              <a:rPr lang="en-IN" sz="1800" dirty="0">
                <a:effectLst/>
                <a:latin typeface="Cambria" panose="02040503050406030204" pitchFamily="18" charset="0"/>
                <a:ea typeface="Verdana" panose="020B0604030504040204" pitchFamily="34" charset="0"/>
                <a:cs typeface="Verdana" panose="020B0604030504040204" pitchFamily="34" charset="0"/>
              </a:rPr>
              <a:t>Identify the most common student queries related to college administration.</a:t>
            </a:r>
            <a:endParaRPr lang="en-IN" sz="2000" dirty="0">
              <a:effectLst/>
              <a:latin typeface="Cambria" panose="02040503050406030204" pitchFamily="18" charset="0"/>
              <a:ea typeface="Verdana" panose="020B0604030504040204" pitchFamily="34" charset="0"/>
              <a:cs typeface="Verdana" panose="020B0604030504040204" pitchFamily="34" charset="0"/>
            </a:endParaRPr>
          </a:p>
          <a:p>
            <a:pPr algn="ctr">
              <a:lnSpc>
                <a:spcPct val="115000"/>
              </a:lnSpc>
            </a:pPr>
            <a:r>
              <a:rPr lang="en-IN" sz="2000" dirty="0">
                <a:effectLst/>
                <a:latin typeface="Cambria" panose="02040503050406030204" pitchFamily="18" charset="0"/>
                <a:ea typeface="Verdana" panose="020B0604030504040204" pitchFamily="34" charset="0"/>
                <a:cs typeface="Verdana" panose="020B0604030504040204" pitchFamily="34" charset="0"/>
              </a:rPr>
              <a:t>Step 2: Data Collection &amp; Processing</a:t>
            </a:r>
          </a:p>
          <a:p>
            <a:pPr algn="ctr">
              <a:lnSpc>
                <a:spcPct val="115000"/>
              </a:lnSpc>
            </a:pPr>
            <a:r>
              <a:rPr lang="en-IN" sz="1800" dirty="0">
                <a:effectLst/>
                <a:latin typeface="Cambria" panose="02040503050406030204" pitchFamily="18" charset="0"/>
                <a:ea typeface="Verdana" panose="020B0604030504040204" pitchFamily="34" charset="0"/>
                <a:cs typeface="Verdana" panose="020B0604030504040204" pitchFamily="34" charset="0"/>
              </a:rPr>
              <a:t>Train the chatbot on real student queries for better understanding.</a:t>
            </a:r>
            <a:endParaRPr lang="en-IN" sz="2000" dirty="0">
              <a:effectLst/>
              <a:latin typeface="Verdana" panose="020B0604030504040204" pitchFamily="34" charset="0"/>
              <a:ea typeface="Verdana" panose="020B0604030504040204" pitchFamily="34" charset="0"/>
              <a:cs typeface="Verdana" panose="020B0604030504040204" pitchFamily="34" charset="0"/>
            </a:endParaRPr>
          </a:p>
          <a:p>
            <a:pPr algn="ctr">
              <a:lnSpc>
                <a:spcPct val="115000"/>
              </a:lnSpc>
            </a:pPr>
            <a:r>
              <a:rPr lang="en-IN" sz="2000" dirty="0">
                <a:effectLst/>
                <a:latin typeface="Cambria" panose="02040503050406030204" pitchFamily="18" charset="0"/>
                <a:ea typeface="Verdana" panose="020B0604030504040204" pitchFamily="34" charset="0"/>
                <a:cs typeface="Verdana" panose="020B0604030504040204" pitchFamily="34" charset="0"/>
              </a:rPr>
              <a:t>Step 3: NLP Implementation</a:t>
            </a:r>
          </a:p>
          <a:p>
            <a:pPr algn="ctr">
              <a:lnSpc>
                <a:spcPct val="115000"/>
              </a:lnSpc>
            </a:pPr>
            <a:r>
              <a:rPr lang="en-IN" sz="1800" dirty="0">
                <a:effectLst/>
                <a:latin typeface="Cambria" panose="02040503050406030204" pitchFamily="18" charset="0"/>
                <a:ea typeface="Verdana" panose="020B0604030504040204" pitchFamily="34" charset="0"/>
                <a:cs typeface="Verdana" panose="020B0604030504040204" pitchFamily="34" charset="0"/>
              </a:rPr>
              <a:t>Use NLP techniques to process and interpret user queries</a:t>
            </a:r>
            <a:endParaRPr lang="en-IN" sz="2000" dirty="0">
              <a:effectLst/>
              <a:latin typeface="Verdana" panose="020B0604030504040204" pitchFamily="34" charset="0"/>
              <a:ea typeface="Verdana" panose="020B0604030504040204" pitchFamily="34" charset="0"/>
              <a:cs typeface="Verdana" panose="020B0604030504040204" pitchFamily="34" charset="0"/>
            </a:endParaRPr>
          </a:p>
          <a:p>
            <a:pPr algn="ctr">
              <a:lnSpc>
                <a:spcPct val="115000"/>
              </a:lnSpc>
            </a:pPr>
            <a:r>
              <a:rPr lang="en-IN" sz="2000" dirty="0">
                <a:effectLst/>
                <a:latin typeface="Cambria" panose="02040503050406030204" pitchFamily="18" charset="0"/>
                <a:ea typeface="Verdana" panose="020B0604030504040204" pitchFamily="34" charset="0"/>
                <a:cs typeface="Verdana" panose="020B0604030504040204" pitchFamily="34" charset="0"/>
              </a:rPr>
              <a:t>Step 4: Backend Development</a:t>
            </a:r>
          </a:p>
          <a:p>
            <a:pPr algn="ctr">
              <a:lnSpc>
                <a:spcPct val="115000"/>
              </a:lnSpc>
            </a:pPr>
            <a:r>
              <a:rPr lang="en-IN" sz="1800" dirty="0">
                <a:effectLst/>
                <a:latin typeface="Cambria" panose="02040503050406030204" pitchFamily="18" charset="0"/>
                <a:ea typeface="Verdana" panose="020B0604030504040204" pitchFamily="34" charset="0"/>
                <a:cs typeface="Verdana" panose="020B0604030504040204" pitchFamily="34" charset="0"/>
              </a:rPr>
              <a:t>Develop the chatbot logic using Python.</a:t>
            </a:r>
            <a:endParaRPr lang="en-IN" sz="2000" dirty="0">
              <a:effectLst/>
              <a:latin typeface="Verdana" panose="020B0604030504040204" pitchFamily="34" charset="0"/>
              <a:ea typeface="Verdana" panose="020B0604030504040204" pitchFamily="34" charset="0"/>
              <a:cs typeface="Verdana" panose="020B0604030504040204" pitchFamily="34" charset="0"/>
            </a:endParaRPr>
          </a:p>
          <a:p>
            <a:pPr algn="ctr">
              <a:lnSpc>
                <a:spcPct val="115000"/>
              </a:lnSpc>
            </a:pPr>
            <a:r>
              <a:rPr lang="en-IN" sz="2000" dirty="0">
                <a:effectLst/>
                <a:latin typeface="Cambria" panose="02040503050406030204" pitchFamily="18" charset="0"/>
                <a:ea typeface="Verdana" panose="020B0604030504040204" pitchFamily="34" charset="0"/>
                <a:cs typeface="Verdana" panose="020B0604030504040204" pitchFamily="34" charset="0"/>
              </a:rPr>
              <a:t>Step 5: Testing &amp; Optimization</a:t>
            </a:r>
          </a:p>
          <a:p>
            <a:pPr algn="ctr">
              <a:lnSpc>
                <a:spcPct val="115000"/>
              </a:lnSpc>
            </a:pPr>
            <a:r>
              <a:rPr lang="en-IN" sz="1800" dirty="0">
                <a:effectLst/>
                <a:latin typeface="Cambria" panose="02040503050406030204" pitchFamily="18" charset="0"/>
                <a:ea typeface="Verdana" panose="020B0604030504040204" pitchFamily="34" charset="0"/>
                <a:cs typeface="Verdana" panose="020B0604030504040204" pitchFamily="34" charset="0"/>
              </a:rPr>
              <a:t>Test the chatbot’s response accuracy.</a:t>
            </a:r>
            <a:endParaRPr lang="en-IN" sz="2000" dirty="0">
              <a:effectLst/>
              <a:latin typeface="Verdana" panose="020B0604030504040204" pitchFamily="34" charset="0"/>
              <a:ea typeface="Verdana" panose="020B0604030504040204" pitchFamily="34" charset="0"/>
              <a:cs typeface="Verdana" panose="020B0604030504040204" pitchFamily="34" charset="0"/>
            </a:endParaRPr>
          </a:p>
          <a:p>
            <a:pPr algn="ctr">
              <a:lnSpc>
                <a:spcPct val="115000"/>
              </a:lnSpc>
            </a:pPr>
            <a:r>
              <a:rPr lang="en-IN" sz="2000" dirty="0">
                <a:effectLst/>
                <a:latin typeface="Cambria" panose="02040503050406030204" pitchFamily="18" charset="0"/>
                <a:ea typeface="Verdana" panose="020B0604030504040204" pitchFamily="34" charset="0"/>
                <a:cs typeface="Verdana" panose="020B0604030504040204" pitchFamily="34" charset="0"/>
              </a:rPr>
              <a:t>Step 6: Deployment &amp; Integration</a:t>
            </a:r>
          </a:p>
          <a:p>
            <a:pPr algn="ctr">
              <a:lnSpc>
                <a:spcPct val="115000"/>
              </a:lnSpc>
            </a:pPr>
            <a:r>
              <a:rPr lang="en-IN" sz="1800" dirty="0">
                <a:effectLst/>
                <a:latin typeface="Cambria" panose="02040503050406030204" pitchFamily="18" charset="0"/>
                <a:ea typeface="Verdana" panose="020B0604030504040204" pitchFamily="34" charset="0"/>
                <a:cs typeface="Verdana" panose="020B0604030504040204" pitchFamily="34" charset="0"/>
              </a:rPr>
              <a:t>Ensure seamless integration with existing platforms.</a:t>
            </a:r>
            <a:endParaRPr lang="en-IN"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15000"/>
              </a:lnSpc>
            </a:pPr>
            <a:endParaRPr lang="en-IN" sz="2000" dirty="0"/>
          </a:p>
        </p:txBody>
      </p:sp>
    </p:spTree>
    <p:extLst>
      <p:ext uri="{BB962C8B-B14F-4D97-AF65-F5344CB8AC3E}">
        <p14:creationId xmlns:p14="http://schemas.microsoft.com/office/powerpoint/2010/main" val="2093371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D841B-74CA-DD08-DC57-2744796991C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AC2900B-3645-9BD6-81D9-B808969A661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C8ECEBC8-6DCD-2500-2951-CF7967A47215}"/>
              </a:ext>
            </a:extLst>
          </p:cNvPr>
          <p:cNvSpPr>
            <a:spLocks noChangeArrowheads="1"/>
          </p:cNvSpPr>
          <p:nvPr/>
        </p:nvSpPr>
        <p:spPr bwMode="auto">
          <a:xfrm>
            <a:off x="177133" y="346645"/>
            <a:ext cx="82809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Timeline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DB126F11-6A87-E75F-D5F6-D578C1CC7C27}"/>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06947D3-B53B-9D95-1C04-7E3AA0B640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45C40F21-AABC-DFB9-90B1-AD1CF565BB7B}"/>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428000CC-C39B-4200-8F80-30B288C9C5E6}"/>
              </a:ext>
            </a:extLst>
          </p:cNvPr>
          <p:cNvSpPr txBox="1"/>
          <p:nvPr/>
        </p:nvSpPr>
        <p:spPr>
          <a:xfrm>
            <a:off x="142998" y="1291962"/>
            <a:ext cx="4963640" cy="4693593"/>
          </a:xfrm>
          <a:prstGeom prst="rect">
            <a:avLst/>
          </a:prstGeom>
          <a:noFill/>
        </p:spPr>
        <p:txBody>
          <a:bodyPr wrap="square">
            <a:spAutoFit/>
          </a:bodyPr>
          <a:lstStyle/>
          <a:p>
            <a:pPr marL="457200" indent="-457200" algn="just">
              <a:buFont typeface="Arial" panose="020B0604020202020204" pitchFamily="34" charset="0"/>
              <a:buChar char="•"/>
            </a:pPr>
            <a:r>
              <a:rPr lang="en-IN" sz="2300" dirty="0"/>
              <a:t>Gantt chart or timeline graph</a:t>
            </a:r>
          </a:p>
          <a:p>
            <a:pPr marL="457200" indent="-457200" algn="just">
              <a:buFont typeface="Arial" panose="020B0604020202020204" pitchFamily="34" charset="0"/>
              <a:buChar char="•"/>
            </a:pPr>
            <a:r>
              <a:rPr lang="en-IN" sz="2300" dirty="0"/>
              <a:t>Phase1: Research&amp; Planning week 1-2</a:t>
            </a:r>
          </a:p>
          <a:p>
            <a:pPr marL="457200" indent="-457200" algn="just">
              <a:buFont typeface="Arial" panose="020B0604020202020204" pitchFamily="34" charset="0"/>
              <a:buChar char="•"/>
            </a:pPr>
            <a:r>
              <a:rPr lang="en-US" sz="2300" dirty="0"/>
              <a:t>Phase 2: Data Collection &amp; NLP Model Development  week 3-4</a:t>
            </a:r>
          </a:p>
          <a:p>
            <a:pPr marL="457200" indent="-457200" algn="just">
              <a:buFont typeface="Arial" panose="020B0604020202020204" pitchFamily="34" charset="0"/>
              <a:buChar char="•"/>
            </a:pPr>
            <a:r>
              <a:rPr lang="en-US" sz="2300" dirty="0"/>
              <a:t>Phase 3: Backend &amp; Database Setup </a:t>
            </a:r>
            <a:r>
              <a:rPr lang="en-IN" sz="2300" dirty="0"/>
              <a:t>week 5-6 </a:t>
            </a:r>
          </a:p>
          <a:p>
            <a:pPr marL="457200" indent="-457200" algn="just">
              <a:buFont typeface="Arial" panose="020B0604020202020204" pitchFamily="34" charset="0"/>
              <a:buChar char="•"/>
            </a:pPr>
            <a:r>
              <a:rPr lang="en-US" sz="2300" dirty="0"/>
              <a:t>Phase 4: Chatbot Logic &amp; AI Training week7-8</a:t>
            </a:r>
            <a:endParaRPr lang="en-IN" sz="2300" dirty="0"/>
          </a:p>
          <a:p>
            <a:pPr marL="457200" indent="-457200" algn="just">
              <a:buFont typeface="Arial" panose="020B0604020202020204" pitchFamily="34" charset="0"/>
              <a:buChar char="•"/>
            </a:pPr>
            <a:r>
              <a:rPr lang="en-IN" sz="2300" dirty="0"/>
              <a:t>Phase 5:User Interface &amp; Integration week 9-10 </a:t>
            </a:r>
          </a:p>
          <a:p>
            <a:pPr marL="457200" indent="-457200" algn="just">
              <a:buFont typeface="Arial" panose="020B0604020202020204" pitchFamily="34" charset="0"/>
              <a:buChar char="•"/>
            </a:pPr>
            <a:r>
              <a:rPr lang="en-IN" sz="2300" dirty="0"/>
              <a:t>Phase 6: Deployment &amp; Testing week 11-12</a:t>
            </a:r>
          </a:p>
        </p:txBody>
      </p:sp>
      <p:graphicFrame>
        <p:nvGraphicFramePr>
          <p:cNvPr id="2" name="Table 1">
            <a:extLst>
              <a:ext uri="{FF2B5EF4-FFF2-40B4-BE49-F238E27FC236}">
                <a16:creationId xmlns:a16="http://schemas.microsoft.com/office/drawing/2014/main" id="{03F2B9AF-B6C4-3476-978E-C69BE4101257}"/>
              </a:ext>
            </a:extLst>
          </p:cNvPr>
          <p:cNvGraphicFramePr>
            <a:graphicFrameLocks noGrp="1"/>
          </p:cNvGraphicFramePr>
          <p:nvPr>
            <p:extLst>
              <p:ext uri="{D42A27DB-BD31-4B8C-83A1-F6EECF244321}">
                <p14:modId xmlns:p14="http://schemas.microsoft.com/office/powerpoint/2010/main" val="3223382796"/>
              </p:ext>
            </p:extLst>
          </p:nvPr>
        </p:nvGraphicFramePr>
        <p:xfrm>
          <a:off x="457200" y="3131661"/>
          <a:ext cx="8229600" cy="365760"/>
        </p:xfrm>
        <a:graphic>
          <a:graphicData uri="http://schemas.openxmlformats.org/drawingml/2006/table">
            <a:tbl>
              <a:tblPr/>
              <a:tblGrid>
                <a:gridCol w="2743200">
                  <a:extLst>
                    <a:ext uri="{9D8B030D-6E8A-4147-A177-3AD203B41FA5}">
                      <a16:colId xmlns:a16="http://schemas.microsoft.com/office/drawing/2014/main" val="2828772694"/>
                    </a:ext>
                  </a:extLst>
                </a:gridCol>
                <a:gridCol w="2743200">
                  <a:extLst>
                    <a:ext uri="{9D8B030D-6E8A-4147-A177-3AD203B41FA5}">
                      <a16:colId xmlns:a16="http://schemas.microsoft.com/office/drawing/2014/main" val="2573575137"/>
                    </a:ext>
                  </a:extLst>
                </a:gridCol>
                <a:gridCol w="2743200">
                  <a:extLst>
                    <a:ext uri="{9D8B030D-6E8A-4147-A177-3AD203B41FA5}">
                      <a16:colId xmlns:a16="http://schemas.microsoft.com/office/drawing/2014/main" val="3590688533"/>
                    </a:ext>
                  </a:extLst>
                </a:gridCol>
              </a:tblGrid>
              <a:tr h="0">
                <a:tc>
                  <a:txBody>
                    <a:bodyPr/>
                    <a:lstStyle/>
                    <a:p>
                      <a:endParaRPr lang="en-IN" dirty="0"/>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tc>
                  <a:txBody>
                    <a:bodyPr/>
                    <a:lstStyle/>
                    <a:p>
                      <a:endParaRPr lang="en-IN" dirty="0"/>
                    </a:p>
                  </a:txBody>
                  <a:tcPr anchor="ctr">
                    <a:lnL>
                      <a:noFill/>
                    </a:lnL>
                    <a:lnR>
                      <a:noFill/>
                    </a:lnR>
                    <a:lnT>
                      <a:noFill/>
                    </a:lnT>
                    <a:lnB>
                      <a:noFill/>
                    </a:lnB>
                    <a:noFill/>
                  </a:tcPr>
                </a:tc>
                <a:extLst>
                  <a:ext uri="{0D108BD9-81ED-4DB2-BD59-A6C34878D82A}">
                    <a16:rowId xmlns:a16="http://schemas.microsoft.com/office/drawing/2014/main" val="2794836755"/>
                  </a:ext>
                </a:extLst>
              </a:tr>
            </a:tbl>
          </a:graphicData>
        </a:graphic>
      </p:graphicFrame>
      <p:graphicFrame>
        <p:nvGraphicFramePr>
          <p:cNvPr id="8" name="Table 7">
            <a:extLst>
              <a:ext uri="{FF2B5EF4-FFF2-40B4-BE49-F238E27FC236}">
                <a16:creationId xmlns:a16="http://schemas.microsoft.com/office/drawing/2014/main" id="{F737626F-5188-733B-4D9C-FCF8D889EF7C}"/>
              </a:ext>
            </a:extLst>
          </p:cNvPr>
          <p:cNvGraphicFramePr>
            <a:graphicFrameLocks noGrp="1"/>
          </p:cNvGraphicFramePr>
          <p:nvPr>
            <p:extLst>
              <p:ext uri="{D42A27DB-BD31-4B8C-83A1-F6EECF244321}">
                <p14:modId xmlns:p14="http://schemas.microsoft.com/office/powerpoint/2010/main" val="4249579672"/>
              </p:ext>
            </p:extLst>
          </p:nvPr>
        </p:nvGraphicFramePr>
        <p:xfrm>
          <a:off x="457200" y="2857341"/>
          <a:ext cx="8229600" cy="365760"/>
        </p:xfrm>
        <a:graphic>
          <a:graphicData uri="http://schemas.openxmlformats.org/drawingml/2006/table">
            <a:tbl>
              <a:tblPr/>
              <a:tblGrid>
                <a:gridCol w="2743200">
                  <a:extLst>
                    <a:ext uri="{9D8B030D-6E8A-4147-A177-3AD203B41FA5}">
                      <a16:colId xmlns:a16="http://schemas.microsoft.com/office/drawing/2014/main" val="1026886804"/>
                    </a:ext>
                  </a:extLst>
                </a:gridCol>
                <a:gridCol w="2743200">
                  <a:extLst>
                    <a:ext uri="{9D8B030D-6E8A-4147-A177-3AD203B41FA5}">
                      <a16:colId xmlns:a16="http://schemas.microsoft.com/office/drawing/2014/main" val="3846046213"/>
                    </a:ext>
                  </a:extLst>
                </a:gridCol>
                <a:gridCol w="2743200">
                  <a:extLst>
                    <a:ext uri="{9D8B030D-6E8A-4147-A177-3AD203B41FA5}">
                      <a16:colId xmlns:a16="http://schemas.microsoft.com/office/drawing/2014/main" val="1034642088"/>
                    </a:ext>
                  </a:extLst>
                </a:gridCol>
              </a:tblGrid>
              <a:tr h="0">
                <a:tc>
                  <a:txBody>
                    <a:bodyPr/>
                    <a:lstStyle/>
                    <a:p>
                      <a:endParaRPr lang="en-US" dirty="0"/>
                    </a:p>
                  </a:txBody>
                  <a:tcPr anchor="ctr">
                    <a:lnL>
                      <a:noFill/>
                    </a:lnL>
                    <a:lnR>
                      <a:noFill/>
                    </a:lnR>
                    <a:lnT>
                      <a:noFill/>
                    </a:lnT>
                    <a:lnB>
                      <a:noFill/>
                    </a:lnB>
                    <a:noFill/>
                  </a:tcPr>
                </a:tc>
                <a:tc>
                  <a:txBody>
                    <a:bodyPr/>
                    <a:lstStyle/>
                    <a:p>
                      <a:endParaRPr lang="en-IN" dirty="0"/>
                    </a:p>
                  </a:txBody>
                  <a:tcPr anchor="ctr">
                    <a:lnL>
                      <a:noFill/>
                    </a:lnL>
                    <a:lnR>
                      <a:noFill/>
                    </a:lnR>
                    <a:lnT>
                      <a:noFill/>
                    </a:lnT>
                    <a:lnB>
                      <a:noFill/>
                    </a:lnB>
                    <a:noFill/>
                  </a:tcPr>
                </a:tc>
                <a:tc>
                  <a:txBody>
                    <a:bodyPr/>
                    <a:lstStyle/>
                    <a:p>
                      <a:endParaRPr lang="en-IN" dirty="0"/>
                    </a:p>
                  </a:txBody>
                  <a:tcPr anchor="ctr">
                    <a:lnL>
                      <a:noFill/>
                    </a:lnL>
                    <a:lnR>
                      <a:noFill/>
                    </a:lnR>
                    <a:lnT>
                      <a:noFill/>
                    </a:lnT>
                    <a:lnB>
                      <a:noFill/>
                    </a:lnB>
                    <a:noFill/>
                  </a:tcPr>
                </a:tc>
                <a:extLst>
                  <a:ext uri="{0D108BD9-81ED-4DB2-BD59-A6C34878D82A}">
                    <a16:rowId xmlns:a16="http://schemas.microsoft.com/office/drawing/2014/main" val="1060788003"/>
                  </a:ext>
                </a:extLst>
              </a:tr>
            </a:tbl>
          </a:graphicData>
        </a:graphic>
      </p:graphicFrame>
      <p:graphicFrame>
        <p:nvGraphicFramePr>
          <p:cNvPr id="10" name="Table 9">
            <a:extLst>
              <a:ext uri="{FF2B5EF4-FFF2-40B4-BE49-F238E27FC236}">
                <a16:creationId xmlns:a16="http://schemas.microsoft.com/office/drawing/2014/main" id="{1C9281A0-1357-1AF5-8D34-14C760E89AC5}"/>
              </a:ext>
            </a:extLst>
          </p:cNvPr>
          <p:cNvGraphicFramePr>
            <a:graphicFrameLocks noGrp="1"/>
          </p:cNvGraphicFramePr>
          <p:nvPr>
            <p:extLst>
              <p:ext uri="{D42A27DB-BD31-4B8C-83A1-F6EECF244321}">
                <p14:modId xmlns:p14="http://schemas.microsoft.com/office/powerpoint/2010/main" val="2091274052"/>
              </p:ext>
            </p:extLst>
          </p:nvPr>
        </p:nvGraphicFramePr>
        <p:xfrm>
          <a:off x="457200" y="2994501"/>
          <a:ext cx="8229600" cy="396240"/>
        </p:xfrm>
        <a:graphic>
          <a:graphicData uri="http://schemas.openxmlformats.org/drawingml/2006/table">
            <a:tbl>
              <a:tblPr/>
              <a:tblGrid>
                <a:gridCol w="2743200">
                  <a:extLst>
                    <a:ext uri="{9D8B030D-6E8A-4147-A177-3AD203B41FA5}">
                      <a16:colId xmlns:a16="http://schemas.microsoft.com/office/drawing/2014/main" val="3003175071"/>
                    </a:ext>
                  </a:extLst>
                </a:gridCol>
                <a:gridCol w="2743200">
                  <a:extLst>
                    <a:ext uri="{9D8B030D-6E8A-4147-A177-3AD203B41FA5}">
                      <a16:colId xmlns:a16="http://schemas.microsoft.com/office/drawing/2014/main" val="2269022651"/>
                    </a:ext>
                  </a:extLst>
                </a:gridCol>
                <a:gridCol w="2743200">
                  <a:extLst>
                    <a:ext uri="{9D8B030D-6E8A-4147-A177-3AD203B41FA5}">
                      <a16:colId xmlns:a16="http://schemas.microsoft.com/office/drawing/2014/main" val="4180851996"/>
                    </a:ext>
                  </a:extLst>
                </a:gridCol>
              </a:tblGrid>
              <a:tr h="0">
                <a:tc>
                  <a:txBody>
                    <a:bodyPr/>
                    <a:lstStyle/>
                    <a:p>
                      <a:endParaRPr lang="en-US" sz="2000" dirty="0"/>
                    </a:p>
                  </a:txBody>
                  <a:tcPr anchor="ctr">
                    <a:lnL>
                      <a:noFill/>
                    </a:lnL>
                    <a:lnR>
                      <a:noFill/>
                    </a:lnR>
                    <a:lnT>
                      <a:noFill/>
                    </a:lnT>
                    <a:lnB>
                      <a:noFill/>
                    </a:lnB>
                    <a:noFill/>
                  </a:tcPr>
                </a:tc>
                <a:tc>
                  <a:txBody>
                    <a:bodyPr/>
                    <a:lstStyle/>
                    <a:p>
                      <a:endParaRPr lang="en-IN" dirty="0"/>
                    </a:p>
                  </a:txBody>
                  <a:tcPr anchor="ctr">
                    <a:lnL>
                      <a:noFill/>
                    </a:lnL>
                    <a:lnR>
                      <a:noFill/>
                    </a:lnR>
                    <a:lnT>
                      <a:noFill/>
                    </a:lnT>
                    <a:lnB>
                      <a:noFill/>
                    </a:lnB>
                    <a:noFill/>
                  </a:tcPr>
                </a:tc>
                <a:tc>
                  <a:txBody>
                    <a:bodyPr/>
                    <a:lstStyle/>
                    <a:p>
                      <a:endParaRPr lang="en-IN" dirty="0"/>
                    </a:p>
                  </a:txBody>
                  <a:tcPr anchor="ctr">
                    <a:lnL>
                      <a:noFill/>
                    </a:lnL>
                    <a:lnR>
                      <a:noFill/>
                    </a:lnR>
                    <a:lnT>
                      <a:noFill/>
                    </a:lnT>
                    <a:lnB>
                      <a:noFill/>
                    </a:lnB>
                    <a:noFill/>
                  </a:tcPr>
                </a:tc>
                <a:extLst>
                  <a:ext uri="{0D108BD9-81ED-4DB2-BD59-A6C34878D82A}">
                    <a16:rowId xmlns:a16="http://schemas.microsoft.com/office/drawing/2014/main" val="2728145375"/>
                  </a:ext>
                </a:extLst>
              </a:tr>
            </a:tbl>
          </a:graphicData>
        </a:graphic>
      </p:graphicFrame>
      <p:graphicFrame>
        <p:nvGraphicFramePr>
          <p:cNvPr id="11" name="Table 10">
            <a:extLst>
              <a:ext uri="{FF2B5EF4-FFF2-40B4-BE49-F238E27FC236}">
                <a16:creationId xmlns:a16="http://schemas.microsoft.com/office/drawing/2014/main" id="{C6DE265A-96C2-6A43-3A59-715727DF9C50}"/>
              </a:ext>
            </a:extLst>
          </p:cNvPr>
          <p:cNvGraphicFramePr>
            <a:graphicFrameLocks noGrp="1"/>
          </p:cNvGraphicFramePr>
          <p:nvPr>
            <p:extLst>
              <p:ext uri="{D42A27DB-BD31-4B8C-83A1-F6EECF244321}">
                <p14:modId xmlns:p14="http://schemas.microsoft.com/office/powerpoint/2010/main" val="3272725750"/>
              </p:ext>
            </p:extLst>
          </p:nvPr>
        </p:nvGraphicFramePr>
        <p:xfrm>
          <a:off x="457200" y="2857341"/>
          <a:ext cx="8229600" cy="365760"/>
        </p:xfrm>
        <a:graphic>
          <a:graphicData uri="http://schemas.openxmlformats.org/drawingml/2006/table">
            <a:tbl>
              <a:tblPr/>
              <a:tblGrid>
                <a:gridCol w="2743200">
                  <a:extLst>
                    <a:ext uri="{9D8B030D-6E8A-4147-A177-3AD203B41FA5}">
                      <a16:colId xmlns:a16="http://schemas.microsoft.com/office/drawing/2014/main" val="465393359"/>
                    </a:ext>
                  </a:extLst>
                </a:gridCol>
                <a:gridCol w="2743200">
                  <a:extLst>
                    <a:ext uri="{9D8B030D-6E8A-4147-A177-3AD203B41FA5}">
                      <a16:colId xmlns:a16="http://schemas.microsoft.com/office/drawing/2014/main" val="3398741449"/>
                    </a:ext>
                  </a:extLst>
                </a:gridCol>
                <a:gridCol w="2743200">
                  <a:extLst>
                    <a:ext uri="{9D8B030D-6E8A-4147-A177-3AD203B41FA5}">
                      <a16:colId xmlns:a16="http://schemas.microsoft.com/office/drawing/2014/main" val="3968862673"/>
                    </a:ext>
                  </a:extLst>
                </a:gridCol>
              </a:tblGrid>
              <a:tr h="0">
                <a:tc>
                  <a:txBody>
                    <a:bodyPr/>
                    <a:lstStyle/>
                    <a:p>
                      <a:endParaRPr lang="en-US" dirty="0"/>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tc>
                  <a:txBody>
                    <a:bodyPr/>
                    <a:lstStyle/>
                    <a:p>
                      <a:endParaRPr lang="en-IN" dirty="0"/>
                    </a:p>
                  </a:txBody>
                  <a:tcPr anchor="ctr">
                    <a:lnL>
                      <a:noFill/>
                    </a:lnL>
                    <a:lnR>
                      <a:noFill/>
                    </a:lnR>
                    <a:lnT>
                      <a:noFill/>
                    </a:lnT>
                    <a:lnB>
                      <a:noFill/>
                    </a:lnB>
                    <a:noFill/>
                  </a:tcPr>
                </a:tc>
                <a:extLst>
                  <a:ext uri="{0D108BD9-81ED-4DB2-BD59-A6C34878D82A}">
                    <a16:rowId xmlns:a16="http://schemas.microsoft.com/office/drawing/2014/main" val="1548328389"/>
                  </a:ext>
                </a:extLst>
              </a:tr>
            </a:tbl>
          </a:graphicData>
        </a:graphic>
      </p:graphicFrame>
      <p:graphicFrame>
        <p:nvGraphicFramePr>
          <p:cNvPr id="12" name="Table 11">
            <a:extLst>
              <a:ext uri="{FF2B5EF4-FFF2-40B4-BE49-F238E27FC236}">
                <a16:creationId xmlns:a16="http://schemas.microsoft.com/office/drawing/2014/main" id="{BBDC8BE8-F419-7406-94FB-3C41C367AE81}"/>
              </a:ext>
            </a:extLst>
          </p:cNvPr>
          <p:cNvGraphicFramePr>
            <a:graphicFrameLocks noGrp="1"/>
          </p:cNvGraphicFramePr>
          <p:nvPr>
            <p:extLst>
              <p:ext uri="{D42A27DB-BD31-4B8C-83A1-F6EECF244321}">
                <p14:modId xmlns:p14="http://schemas.microsoft.com/office/powerpoint/2010/main" val="3961315949"/>
              </p:ext>
            </p:extLst>
          </p:nvPr>
        </p:nvGraphicFramePr>
        <p:xfrm>
          <a:off x="457200" y="2857341"/>
          <a:ext cx="8229600" cy="365760"/>
        </p:xfrm>
        <a:graphic>
          <a:graphicData uri="http://schemas.openxmlformats.org/drawingml/2006/table">
            <a:tbl>
              <a:tblPr/>
              <a:tblGrid>
                <a:gridCol w="2743200">
                  <a:extLst>
                    <a:ext uri="{9D8B030D-6E8A-4147-A177-3AD203B41FA5}">
                      <a16:colId xmlns:a16="http://schemas.microsoft.com/office/drawing/2014/main" val="2713452912"/>
                    </a:ext>
                  </a:extLst>
                </a:gridCol>
                <a:gridCol w="2743200">
                  <a:extLst>
                    <a:ext uri="{9D8B030D-6E8A-4147-A177-3AD203B41FA5}">
                      <a16:colId xmlns:a16="http://schemas.microsoft.com/office/drawing/2014/main" val="341331351"/>
                    </a:ext>
                  </a:extLst>
                </a:gridCol>
                <a:gridCol w="2743200">
                  <a:extLst>
                    <a:ext uri="{9D8B030D-6E8A-4147-A177-3AD203B41FA5}">
                      <a16:colId xmlns:a16="http://schemas.microsoft.com/office/drawing/2014/main" val="2626813403"/>
                    </a:ext>
                  </a:extLst>
                </a:gridCol>
              </a:tblGrid>
              <a:tr h="0">
                <a:tc>
                  <a:txBody>
                    <a:bodyPr/>
                    <a:lstStyle/>
                    <a:p>
                      <a:endParaRPr lang="en-IN" dirty="0"/>
                    </a:p>
                  </a:txBody>
                  <a:tcPr anchor="ctr">
                    <a:lnL>
                      <a:noFill/>
                    </a:lnL>
                    <a:lnR>
                      <a:noFill/>
                    </a:lnR>
                    <a:lnT>
                      <a:noFill/>
                    </a:lnT>
                    <a:lnB>
                      <a:noFill/>
                    </a:lnB>
                    <a:noFill/>
                  </a:tcPr>
                </a:tc>
                <a:tc>
                  <a:txBody>
                    <a:bodyPr/>
                    <a:lstStyle/>
                    <a:p>
                      <a:endParaRPr lang="en-IN" dirty="0"/>
                    </a:p>
                  </a:txBody>
                  <a:tcPr anchor="ctr">
                    <a:lnL>
                      <a:noFill/>
                    </a:lnL>
                    <a:lnR>
                      <a:noFill/>
                    </a:lnR>
                    <a:lnT>
                      <a:noFill/>
                    </a:lnT>
                    <a:lnB>
                      <a:noFill/>
                    </a:lnB>
                    <a:noFill/>
                  </a:tcPr>
                </a:tc>
                <a:tc>
                  <a:txBody>
                    <a:bodyPr/>
                    <a:lstStyle/>
                    <a:p>
                      <a:endParaRPr lang="en-IN" dirty="0"/>
                    </a:p>
                  </a:txBody>
                  <a:tcPr anchor="ctr">
                    <a:lnL>
                      <a:noFill/>
                    </a:lnL>
                    <a:lnR>
                      <a:noFill/>
                    </a:lnR>
                    <a:lnT>
                      <a:noFill/>
                    </a:lnT>
                    <a:lnB>
                      <a:noFill/>
                    </a:lnB>
                    <a:noFill/>
                  </a:tcPr>
                </a:tc>
                <a:extLst>
                  <a:ext uri="{0D108BD9-81ED-4DB2-BD59-A6C34878D82A}">
                    <a16:rowId xmlns:a16="http://schemas.microsoft.com/office/drawing/2014/main" val="1014572454"/>
                  </a:ext>
                </a:extLst>
              </a:tr>
            </a:tbl>
          </a:graphicData>
        </a:graphic>
      </p:graphicFrame>
      <p:graphicFrame>
        <p:nvGraphicFramePr>
          <p:cNvPr id="13" name="Table 12">
            <a:extLst>
              <a:ext uri="{FF2B5EF4-FFF2-40B4-BE49-F238E27FC236}">
                <a16:creationId xmlns:a16="http://schemas.microsoft.com/office/drawing/2014/main" id="{26CC641E-AD95-D2DA-3A01-1642AA2E1CDA}"/>
              </a:ext>
            </a:extLst>
          </p:cNvPr>
          <p:cNvGraphicFramePr>
            <a:graphicFrameLocks noGrp="1"/>
          </p:cNvGraphicFramePr>
          <p:nvPr>
            <p:extLst>
              <p:ext uri="{D42A27DB-BD31-4B8C-83A1-F6EECF244321}">
                <p14:modId xmlns:p14="http://schemas.microsoft.com/office/powerpoint/2010/main" val="1264903186"/>
              </p:ext>
            </p:extLst>
          </p:nvPr>
        </p:nvGraphicFramePr>
        <p:xfrm>
          <a:off x="8458052" y="3680301"/>
          <a:ext cx="228747" cy="365760"/>
        </p:xfrm>
        <a:graphic>
          <a:graphicData uri="http://schemas.openxmlformats.org/drawingml/2006/table">
            <a:tbl>
              <a:tblPr/>
              <a:tblGrid>
                <a:gridCol w="228747">
                  <a:extLst>
                    <a:ext uri="{9D8B030D-6E8A-4147-A177-3AD203B41FA5}">
                      <a16:colId xmlns:a16="http://schemas.microsoft.com/office/drawing/2014/main" val="2199478310"/>
                    </a:ext>
                  </a:extLst>
                </a:gridCol>
              </a:tblGrid>
              <a:tr h="0">
                <a:tc>
                  <a:txBody>
                    <a:bodyPr/>
                    <a:lstStyle/>
                    <a:p>
                      <a:endParaRPr lang="en-IN" dirty="0"/>
                    </a:p>
                  </a:txBody>
                  <a:tcPr anchor="ctr">
                    <a:lnL>
                      <a:noFill/>
                    </a:lnL>
                    <a:lnR>
                      <a:noFill/>
                    </a:lnR>
                    <a:lnT>
                      <a:noFill/>
                    </a:lnT>
                    <a:lnB>
                      <a:noFill/>
                    </a:lnB>
                    <a:noFill/>
                  </a:tcPr>
                </a:tc>
                <a:extLst>
                  <a:ext uri="{0D108BD9-81ED-4DB2-BD59-A6C34878D82A}">
                    <a16:rowId xmlns:a16="http://schemas.microsoft.com/office/drawing/2014/main" val="3980854812"/>
                  </a:ext>
                </a:extLst>
              </a:tr>
            </a:tbl>
          </a:graphicData>
        </a:graphic>
      </p:graphicFrame>
      <p:graphicFrame>
        <p:nvGraphicFramePr>
          <p:cNvPr id="14" name="Table 13">
            <a:extLst>
              <a:ext uri="{FF2B5EF4-FFF2-40B4-BE49-F238E27FC236}">
                <a16:creationId xmlns:a16="http://schemas.microsoft.com/office/drawing/2014/main" id="{93E6C14D-560A-CAF1-BE7C-07C25DBE4F64}"/>
              </a:ext>
            </a:extLst>
          </p:cNvPr>
          <p:cNvGraphicFramePr>
            <a:graphicFrameLocks noGrp="1"/>
          </p:cNvGraphicFramePr>
          <p:nvPr>
            <p:extLst>
              <p:ext uri="{D42A27DB-BD31-4B8C-83A1-F6EECF244321}">
                <p14:modId xmlns:p14="http://schemas.microsoft.com/office/powerpoint/2010/main" val="3489728947"/>
              </p:ext>
            </p:extLst>
          </p:nvPr>
        </p:nvGraphicFramePr>
        <p:xfrm>
          <a:off x="8061960" y="3131661"/>
          <a:ext cx="624840" cy="365760"/>
        </p:xfrm>
        <a:graphic>
          <a:graphicData uri="http://schemas.openxmlformats.org/drawingml/2006/table">
            <a:tbl>
              <a:tblPr/>
              <a:tblGrid>
                <a:gridCol w="208280">
                  <a:extLst>
                    <a:ext uri="{9D8B030D-6E8A-4147-A177-3AD203B41FA5}">
                      <a16:colId xmlns:a16="http://schemas.microsoft.com/office/drawing/2014/main" val="1908391726"/>
                    </a:ext>
                  </a:extLst>
                </a:gridCol>
                <a:gridCol w="208280">
                  <a:extLst>
                    <a:ext uri="{9D8B030D-6E8A-4147-A177-3AD203B41FA5}">
                      <a16:colId xmlns:a16="http://schemas.microsoft.com/office/drawing/2014/main" val="1110658586"/>
                    </a:ext>
                  </a:extLst>
                </a:gridCol>
                <a:gridCol w="208280">
                  <a:extLst>
                    <a:ext uri="{9D8B030D-6E8A-4147-A177-3AD203B41FA5}">
                      <a16:colId xmlns:a16="http://schemas.microsoft.com/office/drawing/2014/main" val="2061109330"/>
                    </a:ext>
                  </a:extLst>
                </a:gridCol>
              </a:tblGrid>
              <a:tr h="0">
                <a:tc>
                  <a:txBody>
                    <a:bodyPr/>
                    <a:lstStyle/>
                    <a:p>
                      <a:endParaRPr lang="en-IN" dirty="0"/>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tc>
                  <a:txBody>
                    <a:bodyPr/>
                    <a:lstStyle/>
                    <a:p>
                      <a:endParaRPr lang="en-IN" dirty="0"/>
                    </a:p>
                  </a:txBody>
                  <a:tcPr anchor="ctr">
                    <a:lnL>
                      <a:noFill/>
                    </a:lnL>
                    <a:lnR>
                      <a:noFill/>
                    </a:lnR>
                    <a:lnT>
                      <a:noFill/>
                    </a:lnT>
                    <a:lnB>
                      <a:noFill/>
                    </a:lnB>
                    <a:noFill/>
                  </a:tcPr>
                </a:tc>
                <a:extLst>
                  <a:ext uri="{0D108BD9-81ED-4DB2-BD59-A6C34878D82A}">
                    <a16:rowId xmlns:a16="http://schemas.microsoft.com/office/drawing/2014/main" val="2052636897"/>
                  </a:ext>
                </a:extLst>
              </a:tr>
            </a:tbl>
          </a:graphicData>
        </a:graphic>
      </p:graphicFrame>
      <p:graphicFrame>
        <p:nvGraphicFramePr>
          <p:cNvPr id="15" name="Table 14">
            <a:extLst>
              <a:ext uri="{FF2B5EF4-FFF2-40B4-BE49-F238E27FC236}">
                <a16:creationId xmlns:a16="http://schemas.microsoft.com/office/drawing/2014/main" id="{FB4E00F9-3A13-BBD3-0FD1-1798F7F77D50}"/>
              </a:ext>
            </a:extLst>
          </p:cNvPr>
          <p:cNvGraphicFramePr>
            <a:graphicFrameLocks noGrp="1"/>
          </p:cNvGraphicFramePr>
          <p:nvPr>
            <p:extLst>
              <p:ext uri="{D42A27DB-BD31-4B8C-83A1-F6EECF244321}">
                <p14:modId xmlns:p14="http://schemas.microsoft.com/office/powerpoint/2010/main" val="2288217064"/>
              </p:ext>
            </p:extLst>
          </p:nvPr>
        </p:nvGraphicFramePr>
        <p:xfrm>
          <a:off x="457200" y="2857341"/>
          <a:ext cx="8229600" cy="365760"/>
        </p:xfrm>
        <a:graphic>
          <a:graphicData uri="http://schemas.openxmlformats.org/drawingml/2006/table">
            <a:tbl>
              <a:tblPr/>
              <a:tblGrid>
                <a:gridCol w="2743200">
                  <a:extLst>
                    <a:ext uri="{9D8B030D-6E8A-4147-A177-3AD203B41FA5}">
                      <a16:colId xmlns:a16="http://schemas.microsoft.com/office/drawing/2014/main" val="971208744"/>
                    </a:ext>
                  </a:extLst>
                </a:gridCol>
                <a:gridCol w="2743200">
                  <a:extLst>
                    <a:ext uri="{9D8B030D-6E8A-4147-A177-3AD203B41FA5}">
                      <a16:colId xmlns:a16="http://schemas.microsoft.com/office/drawing/2014/main" val="2808434255"/>
                    </a:ext>
                  </a:extLst>
                </a:gridCol>
                <a:gridCol w="2743200">
                  <a:extLst>
                    <a:ext uri="{9D8B030D-6E8A-4147-A177-3AD203B41FA5}">
                      <a16:colId xmlns:a16="http://schemas.microsoft.com/office/drawing/2014/main" val="1765791403"/>
                    </a:ext>
                  </a:extLst>
                </a:gridCol>
              </a:tblGrid>
              <a:tr h="0">
                <a:tc>
                  <a:txBody>
                    <a:bodyPr/>
                    <a:lstStyle/>
                    <a:p>
                      <a:endParaRPr lang="en-US" dirty="0"/>
                    </a:p>
                  </a:txBody>
                  <a:tcPr anchor="ctr">
                    <a:lnL>
                      <a:noFill/>
                    </a:lnL>
                    <a:lnR>
                      <a:noFill/>
                    </a:lnR>
                    <a:lnT>
                      <a:noFill/>
                    </a:lnT>
                    <a:lnB>
                      <a:noFill/>
                    </a:lnB>
                    <a:noFill/>
                  </a:tcPr>
                </a:tc>
                <a:tc>
                  <a:txBody>
                    <a:bodyPr/>
                    <a:lstStyle/>
                    <a:p>
                      <a:endParaRPr lang="en-IN" dirty="0"/>
                    </a:p>
                  </a:txBody>
                  <a:tcPr anchor="ctr">
                    <a:lnL>
                      <a:noFill/>
                    </a:lnL>
                    <a:lnR>
                      <a:noFill/>
                    </a:lnR>
                    <a:lnT>
                      <a:noFill/>
                    </a:lnT>
                    <a:lnB>
                      <a:noFill/>
                    </a:lnB>
                    <a:noFill/>
                  </a:tcPr>
                </a:tc>
                <a:tc>
                  <a:txBody>
                    <a:bodyPr/>
                    <a:lstStyle/>
                    <a:p>
                      <a:endParaRPr lang="en-IN" dirty="0"/>
                    </a:p>
                  </a:txBody>
                  <a:tcPr anchor="ctr">
                    <a:lnL>
                      <a:noFill/>
                    </a:lnL>
                    <a:lnR>
                      <a:noFill/>
                    </a:lnR>
                    <a:lnT>
                      <a:noFill/>
                    </a:lnT>
                    <a:lnB>
                      <a:noFill/>
                    </a:lnB>
                    <a:noFill/>
                  </a:tcPr>
                </a:tc>
                <a:extLst>
                  <a:ext uri="{0D108BD9-81ED-4DB2-BD59-A6C34878D82A}">
                    <a16:rowId xmlns:a16="http://schemas.microsoft.com/office/drawing/2014/main" val="3527456589"/>
                  </a:ext>
                </a:extLst>
              </a:tr>
            </a:tbl>
          </a:graphicData>
        </a:graphic>
      </p:graphicFrame>
      <p:graphicFrame>
        <p:nvGraphicFramePr>
          <p:cNvPr id="16" name="Table 15">
            <a:extLst>
              <a:ext uri="{FF2B5EF4-FFF2-40B4-BE49-F238E27FC236}">
                <a16:creationId xmlns:a16="http://schemas.microsoft.com/office/drawing/2014/main" id="{5E7A51D1-16D9-34BE-AC0B-B345D7CE818F}"/>
              </a:ext>
            </a:extLst>
          </p:cNvPr>
          <p:cNvGraphicFramePr>
            <a:graphicFrameLocks noGrp="1"/>
          </p:cNvGraphicFramePr>
          <p:nvPr>
            <p:extLst>
              <p:ext uri="{D42A27DB-BD31-4B8C-83A1-F6EECF244321}">
                <p14:modId xmlns:p14="http://schemas.microsoft.com/office/powerpoint/2010/main" val="324664168"/>
              </p:ext>
            </p:extLst>
          </p:nvPr>
        </p:nvGraphicFramePr>
        <p:xfrm>
          <a:off x="457200" y="2994501"/>
          <a:ext cx="8229600" cy="365760"/>
        </p:xfrm>
        <a:graphic>
          <a:graphicData uri="http://schemas.openxmlformats.org/drawingml/2006/table">
            <a:tbl>
              <a:tblPr/>
              <a:tblGrid>
                <a:gridCol w="2743200">
                  <a:extLst>
                    <a:ext uri="{9D8B030D-6E8A-4147-A177-3AD203B41FA5}">
                      <a16:colId xmlns:a16="http://schemas.microsoft.com/office/drawing/2014/main" val="3207803174"/>
                    </a:ext>
                  </a:extLst>
                </a:gridCol>
                <a:gridCol w="2743200">
                  <a:extLst>
                    <a:ext uri="{9D8B030D-6E8A-4147-A177-3AD203B41FA5}">
                      <a16:colId xmlns:a16="http://schemas.microsoft.com/office/drawing/2014/main" val="904533676"/>
                    </a:ext>
                  </a:extLst>
                </a:gridCol>
                <a:gridCol w="2743200">
                  <a:extLst>
                    <a:ext uri="{9D8B030D-6E8A-4147-A177-3AD203B41FA5}">
                      <a16:colId xmlns:a16="http://schemas.microsoft.com/office/drawing/2014/main" val="3083968990"/>
                    </a:ext>
                  </a:extLst>
                </a:gridCol>
              </a:tblGrid>
              <a:tr h="0">
                <a:tc>
                  <a:txBody>
                    <a:bodyPr/>
                    <a:lstStyle/>
                    <a:p>
                      <a:endParaRPr lang="en-US" dirty="0"/>
                    </a:p>
                  </a:txBody>
                  <a:tcPr anchor="ctr">
                    <a:lnL>
                      <a:noFill/>
                    </a:lnL>
                    <a:lnR>
                      <a:noFill/>
                    </a:lnR>
                    <a:lnT>
                      <a:noFill/>
                    </a:lnT>
                    <a:lnB>
                      <a:noFill/>
                    </a:lnB>
                    <a:noFill/>
                  </a:tcPr>
                </a:tc>
                <a:tc>
                  <a:txBody>
                    <a:bodyPr/>
                    <a:lstStyle/>
                    <a:p>
                      <a:endParaRPr lang="en-IN" dirty="0"/>
                    </a:p>
                  </a:txBody>
                  <a:tcPr anchor="ctr">
                    <a:lnL>
                      <a:noFill/>
                    </a:lnL>
                    <a:lnR>
                      <a:noFill/>
                    </a:lnR>
                    <a:lnT>
                      <a:noFill/>
                    </a:lnT>
                    <a:lnB>
                      <a:noFill/>
                    </a:lnB>
                    <a:noFill/>
                  </a:tcPr>
                </a:tc>
                <a:tc>
                  <a:txBody>
                    <a:bodyPr/>
                    <a:lstStyle/>
                    <a:p>
                      <a:endParaRPr lang="en-IN" dirty="0"/>
                    </a:p>
                  </a:txBody>
                  <a:tcPr anchor="ctr">
                    <a:lnL>
                      <a:noFill/>
                    </a:lnL>
                    <a:lnR>
                      <a:noFill/>
                    </a:lnR>
                    <a:lnT>
                      <a:noFill/>
                    </a:lnT>
                    <a:lnB>
                      <a:noFill/>
                    </a:lnB>
                    <a:noFill/>
                  </a:tcPr>
                </a:tc>
                <a:extLst>
                  <a:ext uri="{0D108BD9-81ED-4DB2-BD59-A6C34878D82A}">
                    <a16:rowId xmlns:a16="http://schemas.microsoft.com/office/drawing/2014/main" val="1628305176"/>
                  </a:ext>
                </a:extLst>
              </a:tr>
            </a:tbl>
          </a:graphicData>
        </a:graphic>
      </p:graphicFrame>
      <p:graphicFrame>
        <p:nvGraphicFramePr>
          <p:cNvPr id="17" name="Table 16">
            <a:extLst>
              <a:ext uri="{FF2B5EF4-FFF2-40B4-BE49-F238E27FC236}">
                <a16:creationId xmlns:a16="http://schemas.microsoft.com/office/drawing/2014/main" id="{06D1857A-DF46-1A4F-1EB0-470AD4AC22D8}"/>
              </a:ext>
            </a:extLst>
          </p:cNvPr>
          <p:cNvGraphicFramePr>
            <a:graphicFrameLocks noGrp="1"/>
          </p:cNvGraphicFramePr>
          <p:nvPr>
            <p:extLst>
              <p:ext uri="{D42A27DB-BD31-4B8C-83A1-F6EECF244321}">
                <p14:modId xmlns:p14="http://schemas.microsoft.com/office/powerpoint/2010/main" val="570434689"/>
              </p:ext>
            </p:extLst>
          </p:nvPr>
        </p:nvGraphicFramePr>
        <p:xfrm>
          <a:off x="457200" y="2857341"/>
          <a:ext cx="8229600" cy="365760"/>
        </p:xfrm>
        <a:graphic>
          <a:graphicData uri="http://schemas.openxmlformats.org/drawingml/2006/table">
            <a:tbl>
              <a:tblPr/>
              <a:tblGrid>
                <a:gridCol w="2743200">
                  <a:extLst>
                    <a:ext uri="{9D8B030D-6E8A-4147-A177-3AD203B41FA5}">
                      <a16:colId xmlns:a16="http://schemas.microsoft.com/office/drawing/2014/main" val="619650650"/>
                    </a:ext>
                  </a:extLst>
                </a:gridCol>
                <a:gridCol w="2743200">
                  <a:extLst>
                    <a:ext uri="{9D8B030D-6E8A-4147-A177-3AD203B41FA5}">
                      <a16:colId xmlns:a16="http://schemas.microsoft.com/office/drawing/2014/main" val="1771759850"/>
                    </a:ext>
                  </a:extLst>
                </a:gridCol>
                <a:gridCol w="2743200">
                  <a:extLst>
                    <a:ext uri="{9D8B030D-6E8A-4147-A177-3AD203B41FA5}">
                      <a16:colId xmlns:a16="http://schemas.microsoft.com/office/drawing/2014/main" val="3891839756"/>
                    </a:ext>
                  </a:extLst>
                </a:gridCol>
              </a:tblGrid>
              <a:tr h="0">
                <a:tc>
                  <a:txBody>
                    <a:bodyPr/>
                    <a:lstStyle/>
                    <a:p>
                      <a:endParaRPr lang="en-US" dirty="0"/>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tc>
                  <a:txBody>
                    <a:bodyPr/>
                    <a:lstStyle/>
                    <a:p>
                      <a:endParaRPr lang="en-IN" dirty="0"/>
                    </a:p>
                  </a:txBody>
                  <a:tcPr anchor="ctr">
                    <a:lnL>
                      <a:noFill/>
                    </a:lnL>
                    <a:lnR>
                      <a:noFill/>
                    </a:lnR>
                    <a:lnT>
                      <a:noFill/>
                    </a:lnT>
                    <a:lnB>
                      <a:noFill/>
                    </a:lnB>
                    <a:noFill/>
                  </a:tcPr>
                </a:tc>
                <a:extLst>
                  <a:ext uri="{0D108BD9-81ED-4DB2-BD59-A6C34878D82A}">
                    <a16:rowId xmlns:a16="http://schemas.microsoft.com/office/drawing/2014/main" val="2978080070"/>
                  </a:ext>
                </a:extLst>
              </a:tr>
            </a:tbl>
          </a:graphicData>
        </a:graphic>
      </p:graphicFrame>
      <p:graphicFrame>
        <p:nvGraphicFramePr>
          <p:cNvPr id="18" name="Table 17">
            <a:extLst>
              <a:ext uri="{FF2B5EF4-FFF2-40B4-BE49-F238E27FC236}">
                <a16:creationId xmlns:a16="http://schemas.microsoft.com/office/drawing/2014/main" id="{E1A97445-61D2-164A-2C4C-A881E66F5996}"/>
              </a:ext>
            </a:extLst>
          </p:cNvPr>
          <p:cNvGraphicFramePr>
            <a:graphicFrameLocks noGrp="1"/>
          </p:cNvGraphicFramePr>
          <p:nvPr>
            <p:extLst>
              <p:ext uri="{D42A27DB-BD31-4B8C-83A1-F6EECF244321}">
                <p14:modId xmlns:p14="http://schemas.microsoft.com/office/powerpoint/2010/main" val="3785031812"/>
              </p:ext>
            </p:extLst>
          </p:nvPr>
        </p:nvGraphicFramePr>
        <p:xfrm>
          <a:off x="457200" y="2857341"/>
          <a:ext cx="8229600" cy="365760"/>
        </p:xfrm>
        <a:graphic>
          <a:graphicData uri="http://schemas.openxmlformats.org/drawingml/2006/table">
            <a:tbl>
              <a:tblPr/>
              <a:tblGrid>
                <a:gridCol w="2743200">
                  <a:extLst>
                    <a:ext uri="{9D8B030D-6E8A-4147-A177-3AD203B41FA5}">
                      <a16:colId xmlns:a16="http://schemas.microsoft.com/office/drawing/2014/main" val="865659419"/>
                    </a:ext>
                  </a:extLst>
                </a:gridCol>
                <a:gridCol w="2743200">
                  <a:extLst>
                    <a:ext uri="{9D8B030D-6E8A-4147-A177-3AD203B41FA5}">
                      <a16:colId xmlns:a16="http://schemas.microsoft.com/office/drawing/2014/main" val="3112242049"/>
                    </a:ext>
                  </a:extLst>
                </a:gridCol>
                <a:gridCol w="2743200">
                  <a:extLst>
                    <a:ext uri="{9D8B030D-6E8A-4147-A177-3AD203B41FA5}">
                      <a16:colId xmlns:a16="http://schemas.microsoft.com/office/drawing/2014/main" val="4082248189"/>
                    </a:ext>
                  </a:extLst>
                </a:gridCol>
              </a:tblGrid>
              <a:tr h="0">
                <a:tc>
                  <a:txBody>
                    <a:bodyPr/>
                    <a:lstStyle/>
                    <a:p>
                      <a:pPr rtl="0"/>
                      <a:endParaRPr lang="en-IN" dirty="0"/>
                    </a:p>
                  </a:txBody>
                  <a:tcPr anchor="ctr">
                    <a:lnL>
                      <a:noFill/>
                    </a:lnL>
                    <a:lnR>
                      <a:noFill/>
                    </a:lnR>
                    <a:lnT>
                      <a:noFill/>
                    </a:lnT>
                    <a:lnB>
                      <a:noFill/>
                    </a:lnB>
                    <a:noFill/>
                  </a:tcPr>
                </a:tc>
                <a:tc>
                  <a:txBody>
                    <a:bodyPr/>
                    <a:lstStyle/>
                    <a:p>
                      <a:endParaRPr lang="en-IN" dirty="0"/>
                    </a:p>
                  </a:txBody>
                  <a:tcPr anchor="ctr">
                    <a:lnL>
                      <a:noFill/>
                    </a:lnL>
                    <a:lnR>
                      <a:noFill/>
                    </a:lnR>
                    <a:lnT>
                      <a:noFill/>
                    </a:lnT>
                    <a:lnB>
                      <a:noFill/>
                    </a:lnB>
                    <a:noFill/>
                  </a:tcPr>
                </a:tc>
                <a:tc>
                  <a:txBody>
                    <a:bodyPr/>
                    <a:lstStyle/>
                    <a:p>
                      <a:endParaRPr lang="en-IN" dirty="0"/>
                    </a:p>
                  </a:txBody>
                  <a:tcPr anchor="ctr">
                    <a:lnL>
                      <a:noFill/>
                    </a:lnL>
                    <a:lnR>
                      <a:noFill/>
                    </a:lnR>
                    <a:lnT>
                      <a:noFill/>
                    </a:lnT>
                    <a:lnB>
                      <a:noFill/>
                    </a:lnB>
                    <a:noFill/>
                  </a:tcPr>
                </a:tc>
                <a:extLst>
                  <a:ext uri="{0D108BD9-81ED-4DB2-BD59-A6C34878D82A}">
                    <a16:rowId xmlns:a16="http://schemas.microsoft.com/office/drawing/2014/main" val="1412109659"/>
                  </a:ext>
                </a:extLst>
              </a:tr>
            </a:tbl>
          </a:graphicData>
        </a:graphic>
      </p:graphicFrame>
      <p:graphicFrame>
        <p:nvGraphicFramePr>
          <p:cNvPr id="19" name="Table 18">
            <a:extLst>
              <a:ext uri="{FF2B5EF4-FFF2-40B4-BE49-F238E27FC236}">
                <a16:creationId xmlns:a16="http://schemas.microsoft.com/office/drawing/2014/main" id="{93C4AC91-B5CD-321E-8637-D2CDA130C664}"/>
              </a:ext>
            </a:extLst>
          </p:cNvPr>
          <p:cNvGraphicFramePr>
            <a:graphicFrameLocks noGrp="1"/>
          </p:cNvGraphicFramePr>
          <p:nvPr>
            <p:extLst>
              <p:ext uri="{D42A27DB-BD31-4B8C-83A1-F6EECF244321}">
                <p14:modId xmlns:p14="http://schemas.microsoft.com/office/powerpoint/2010/main" val="3208421878"/>
              </p:ext>
            </p:extLst>
          </p:nvPr>
        </p:nvGraphicFramePr>
        <p:xfrm>
          <a:off x="457200" y="2564904"/>
          <a:ext cx="208280" cy="365760"/>
        </p:xfrm>
        <a:graphic>
          <a:graphicData uri="http://schemas.openxmlformats.org/drawingml/2006/table">
            <a:tbl>
              <a:tblPr/>
              <a:tblGrid>
                <a:gridCol w="208280">
                  <a:extLst>
                    <a:ext uri="{9D8B030D-6E8A-4147-A177-3AD203B41FA5}">
                      <a16:colId xmlns:a16="http://schemas.microsoft.com/office/drawing/2014/main" val="3530983677"/>
                    </a:ext>
                  </a:extLst>
                </a:gridCol>
              </a:tblGrid>
              <a:tr h="0">
                <a:tc>
                  <a:txBody>
                    <a:bodyPr/>
                    <a:lstStyle/>
                    <a:p>
                      <a:endParaRPr lang="en-IN" dirty="0"/>
                    </a:p>
                  </a:txBody>
                  <a:tcPr anchor="ctr">
                    <a:lnL>
                      <a:noFill/>
                    </a:lnL>
                    <a:lnR>
                      <a:noFill/>
                    </a:lnR>
                    <a:lnT>
                      <a:noFill/>
                    </a:lnT>
                    <a:lnB>
                      <a:noFill/>
                    </a:lnB>
                    <a:noFill/>
                  </a:tcPr>
                </a:tc>
                <a:extLst>
                  <a:ext uri="{0D108BD9-81ED-4DB2-BD59-A6C34878D82A}">
                    <a16:rowId xmlns:a16="http://schemas.microsoft.com/office/drawing/2014/main" val="855004526"/>
                  </a:ext>
                </a:extLst>
              </a:tr>
            </a:tbl>
          </a:graphicData>
        </a:graphic>
      </p:graphicFrame>
      <p:pic>
        <p:nvPicPr>
          <p:cNvPr id="21" name="Picture 20">
            <a:extLst>
              <a:ext uri="{FF2B5EF4-FFF2-40B4-BE49-F238E27FC236}">
                <a16:creationId xmlns:a16="http://schemas.microsoft.com/office/drawing/2014/main" id="{4C063F24-16C8-9FC2-E34A-961C64F3C553}"/>
              </a:ext>
            </a:extLst>
          </p:cNvPr>
          <p:cNvPicPr>
            <a:picLocks noChangeAspect="1"/>
          </p:cNvPicPr>
          <p:nvPr/>
        </p:nvPicPr>
        <p:blipFill>
          <a:blip r:embed="rId5"/>
          <a:stretch>
            <a:fillRect/>
          </a:stretch>
        </p:blipFill>
        <p:spPr>
          <a:xfrm>
            <a:off x="5143152" y="1063328"/>
            <a:ext cx="4000847" cy="2453853"/>
          </a:xfrm>
          <a:prstGeom prst="rect">
            <a:avLst/>
          </a:prstGeom>
        </p:spPr>
      </p:pic>
    </p:spTree>
    <p:extLst>
      <p:ext uri="{BB962C8B-B14F-4D97-AF65-F5344CB8AC3E}">
        <p14:creationId xmlns:p14="http://schemas.microsoft.com/office/powerpoint/2010/main" val="1723701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Expected Results &amp; Impact</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28A0BA87-FFCE-0AD9-17CC-A811FB343CCE}"/>
              </a:ext>
            </a:extLst>
          </p:cNvPr>
          <p:cNvSpPr txBox="1"/>
          <p:nvPr/>
        </p:nvSpPr>
        <p:spPr>
          <a:xfrm>
            <a:off x="827584" y="1480231"/>
            <a:ext cx="7200800" cy="5047536"/>
          </a:xfrm>
          <a:prstGeom prst="rect">
            <a:avLst/>
          </a:prstGeom>
          <a:noFill/>
        </p:spPr>
        <p:txBody>
          <a:bodyPr wrap="square">
            <a:spAutoFit/>
          </a:bodyPr>
          <a:lstStyle/>
          <a:p>
            <a:pPr algn="just"/>
            <a:r>
              <a:rPr lang="en-IN" sz="2300" b="1" dirty="0"/>
              <a:t>Expected Results:</a:t>
            </a:r>
          </a:p>
          <a:p>
            <a:pPr algn="just">
              <a:buFont typeface="Arial" panose="020B0604020202020204" pitchFamily="34" charset="0"/>
              <a:buChar char="•"/>
            </a:pPr>
            <a:r>
              <a:rPr lang="en-US" sz="2300" dirty="0"/>
              <a:t>Chatbot will help automate responses to common questions about college life, courses, deadlines, etc.</a:t>
            </a:r>
            <a:endParaRPr lang="en-IN" sz="2300" dirty="0"/>
          </a:p>
          <a:p>
            <a:pPr algn="just">
              <a:buFont typeface="Arial" panose="020B0604020202020204" pitchFamily="34" charset="0"/>
              <a:buChar char="•"/>
            </a:pPr>
            <a:r>
              <a:rPr lang="en-US" sz="2300" dirty="0"/>
              <a:t>A well-designed smart chatbot can indeed solve the identified problem if it’s tailored to meet the specific needs of the user.</a:t>
            </a:r>
          </a:p>
          <a:p>
            <a:pPr algn="just">
              <a:buFont typeface="Arial" panose="020B0604020202020204" pitchFamily="34" charset="0"/>
              <a:buChar char="•"/>
            </a:pPr>
            <a:endParaRPr lang="en-IN" sz="2300" dirty="0"/>
          </a:p>
          <a:p>
            <a:pPr algn="just"/>
            <a:r>
              <a:rPr lang="en-IN" sz="2300" b="1" dirty="0"/>
              <a:t>Impact:</a:t>
            </a:r>
          </a:p>
          <a:p>
            <a:pPr algn="just">
              <a:buFont typeface="Arial" panose="020B0604020202020204" pitchFamily="34" charset="0"/>
              <a:buChar char="•"/>
            </a:pPr>
            <a:r>
              <a:rPr lang="en-IN" sz="2300" dirty="0"/>
              <a:t>Through this chatbot it can make several valuable contribution to it’s field in specifically in terms of user experience.</a:t>
            </a:r>
          </a:p>
          <a:p>
            <a:pPr algn="just">
              <a:buFont typeface="Arial" panose="020B0604020202020204" pitchFamily="34" charset="0"/>
              <a:buChar char="•"/>
            </a:pPr>
            <a:r>
              <a:rPr lang="en-IN" sz="2300" dirty="0"/>
              <a:t>It assist the education institute to automate all queries.</a:t>
            </a:r>
          </a:p>
          <a:p>
            <a:pPr algn="just">
              <a:buFont typeface="Arial" panose="020B0604020202020204" pitchFamily="34" charset="0"/>
              <a:buChar char="•"/>
            </a:pPr>
            <a:r>
              <a:rPr lang="en-IN" sz="2300" dirty="0"/>
              <a:t>Yes, the future scope of this project is as in education and in technology.</a:t>
            </a:r>
          </a:p>
        </p:txBody>
      </p:sp>
    </p:spTree>
    <p:extLst>
      <p:ext uri="{BB962C8B-B14F-4D97-AF65-F5344CB8AC3E}">
        <p14:creationId xmlns:p14="http://schemas.microsoft.com/office/powerpoint/2010/main" val="256260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A90B0-DF45-D772-F2C2-4DA9C9459708}"/>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8841DBC-268C-A507-A4A1-7C736065634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1FEB11A7-55F7-BA44-4ABC-0E9514E1A407}"/>
              </a:ext>
            </a:extLst>
          </p:cNvPr>
          <p:cNvSpPr>
            <a:spLocks noChangeArrowheads="1"/>
          </p:cNvSpPr>
          <p:nvPr/>
        </p:nvSpPr>
        <p:spPr bwMode="auto">
          <a:xfrm>
            <a:off x="177133" y="346645"/>
            <a:ext cx="82809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References</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914D0127-5B9D-1F1F-5AC4-DBE6A7B70CC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1913F5F-C1D7-7FAC-0C7C-5A9C9314CC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519A5981-DFEE-F419-D91C-B08F4A8F860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1401230E-A2B3-BF6C-96B3-DAEBFDD3C4B8}"/>
              </a:ext>
            </a:extLst>
          </p:cNvPr>
          <p:cNvSpPr txBox="1"/>
          <p:nvPr/>
        </p:nvSpPr>
        <p:spPr>
          <a:xfrm>
            <a:off x="1043608" y="2122897"/>
            <a:ext cx="6912768" cy="3631763"/>
          </a:xfrm>
          <a:prstGeom prst="rect">
            <a:avLst/>
          </a:prstGeom>
          <a:noFill/>
        </p:spPr>
        <p:txBody>
          <a:bodyPr wrap="square">
            <a:spAutoFit/>
          </a:bodyPr>
          <a:lstStyle/>
          <a:p>
            <a:pPr marL="457200" indent="-457200" algn="just">
              <a:buFont typeface="Arial" panose="020B0604020202020204" pitchFamily="34" charset="0"/>
              <a:buChar char="•"/>
            </a:pPr>
            <a:r>
              <a:rPr lang="en-US" sz="2300" dirty="0"/>
              <a:t>"BERT: Pre-training of Deep Bidirectional Transformers for Language Understanding" by Jacob Devlin et al.</a:t>
            </a:r>
            <a:endParaRPr lang="en-IN" sz="2300" dirty="0"/>
          </a:p>
          <a:p>
            <a:pPr marL="457200" indent="-457200" algn="just">
              <a:buFont typeface="Arial" panose="020B0604020202020204" pitchFamily="34" charset="0"/>
              <a:buChar char="•"/>
            </a:pPr>
            <a:r>
              <a:rPr lang="en-US" sz="2300" dirty="0"/>
              <a:t>"Building Chatbots with Python: Using Natural Language Processing and Machine Learning" by Sumit Raj (Book-based research paper)</a:t>
            </a:r>
            <a:endParaRPr lang="en-IN" sz="2300" dirty="0"/>
          </a:p>
          <a:p>
            <a:pPr marL="457200" indent="-457200" algn="just">
              <a:buFont typeface="Arial" panose="020B0604020202020204" pitchFamily="34" charset="0"/>
              <a:buChar char="•"/>
            </a:pPr>
            <a:r>
              <a:rPr lang="en-US" sz="2300" dirty="0"/>
              <a:t>"Speech and Language Processing" by Daniel </a:t>
            </a:r>
            <a:r>
              <a:rPr lang="en-US" sz="2300" dirty="0" err="1"/>
              <a:t>Jurafsky</a:t>
            </a:r>
            <a:r>
              <a:rPr lang="en-US" sz="2300" dirty="0"/>
              <a:t> and James H. Martin</a:t>
            </a:r>
          </a:p>
          <a:p>
            <a:pPr marL="457200" indent="-457200" algn="just">
              <a:buFont typeface="Arial" panose="020B0604020202020204" pitchFamily="34" charset="0"/>
              <a:buChar char="•"/>
            </a:pPr>
            <a:r>
              <a:rPr lang="en-US" sz="2300" dirty="0"/>
              <a:t>"Deep Learning with Python" by François Chollet and many more.</a:t>
            </a:r>
            <a:endParaRPr lang="en-IN" sz="2300" dirty="0"/>
          </a:p>
        </p:txBody>
      </p:sp>
    </p:spTree>
    <p:extLst>
      <p:ext uri="{BB962C8B-B14F-4D97-AF65-F5344CB8AC3E}">
        <p14:creationId xmlns:p14="http://schemas.microsoft.com/office/powerpoint/2010/main" val="1015379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Tree>
    <p:extLst>
      <p:ext uri="{BB962C8B-B14F-4D97-AF65-F5344CB8AC3E}">
        <p14:creationId xmlns:p14="http://schemas.microsoft.com/office/powerpoint/2010/main" val="3858198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6532</TotalTime>
  <Words>940</Words>
  <Application>Microsoft Office PowerPoint</Application>
  <PresentationFormat>On-screen Show (4:3)</PresentationFormat>
  <Paragraphs>127</Paragraphs>
  <Slides>12</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Cambria</vt:lpstr>
      <vt:lpstr>Garamond</vt:lpstr>
      <vt:lpstr>Symbol</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TAHA JAMAL</cp:lastModifiedBy>
  <cp:revision>332</cp:revision>
  <cp:lastPrinted>2022-09-05T08:43:44Z</cp:lastPrinted>
  <dcterms:created xsi:type="dcterms:W3CDTF">2020-01-16T09:05:56Z</dcterms:created>
  <dcterms:modified xsi:type="dcterms:W3CDTF">2025-04-18T10:46:42Z</dcterms:modified>
</cp:coreProperties>
</file>